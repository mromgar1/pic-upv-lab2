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
  </p:notesMasterIdLst>
  <p:handoutMasterIdLst>
    <p:handoutMasterId r:id="rId23"/>
  </p:handoutMasterIdLst>
  <p:sldIdLst>
    <p:sldId id="256" r:id="rId2"/>
    <p:sldId id="289" r:id="rId3"/>
    <p:sldId id="295" r:id="rId4"/>
    <p:sldId id="302" r:id="rId5"/>
    <p:sldId id="304" r:id="rId6"/>
    <p:sldId id="305" r:id="rId7"/>
    <p:sldId id="306" r:id="rId8"/>
    <p:sldId id="307" r:id="rId9"/>
    <p:sldId id="308" r:id="rId10"/>
    <p:sldId id="309" r:id="rId11"/>
    <p:sldId id="310" r:id="rId12"/>
    <p:sldId id="291" r:id="rId13"/>
    <p:sldId id="296" r:id="rId14"/>
    <p:sldId id="294" r:id="rId15"/>
    <p:sldId id="311" r:id="rId16"/>
    <p:sldId id="312" r:id="rId17"/>
    <p:sldId id="301" r:id="rId18"/>
    <p:sldId id="313" r:id="rId19"/>
    <p:sldId id="314" r:id="rId20"/>
    <p:sldId id="288" r:id="rId21"/>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50" d="100"/>
          <a:sy n="50" d="100"/>
        </p:scale>
        <p:origin x="48" y="778"/>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13/03/2026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13/03/2026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7DEF6-5FA8-C270-7457-F88D0E285F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CA637FA-B95D-DE9C-432E-9D4792C51D6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166B3D-BAF7-FA2D-4F9C-E12F08367AF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A441E9D-8EF5-DCE6-64E0-18D8A44AB7B8}"/>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3220985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F2DE-FFD8-2A64-1959-1766928596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FC5242-1A76-25DB-2A59-0E041C6C31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47A86D9-A74C-1904-3F53-A1D2C461E93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CE86E6D-F548-506F-5722-50CD51ADE138}"/>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3459749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150A3-E499-8E9C-FA08-5982EBBC890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A895894-ADD6-51BE-B533-87E8C318C98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C6FFB6A-2407-74B0-0437-0139C49781A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51F2B9C-33F8-7060-843C-2EE9276A5126}"/>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35532137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0A4FD-771B-573C-6595-75CDF4F5A2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EBF902F-3E89-70AD-41C2-092FB4E37A1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9B4ABC-8E96-AE6D-CB11-1046217630C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CE29468-A5DA-E5D0-952B-4D2970C5A44B}"/>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640780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53CA9-E881-88DA-18E1-7EC752C280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2870823-F8E7-871D-1BA3-7716C12A887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2D61E5D-A6D6-3865-9432-9F7BEACBDEC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B5E2197-F08D-CAA2-D0D2-26925E857D7D}"/>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928779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26154-6A37-D6CD-063B-0CFDCBD43A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E8D519-006C-81BF-ACEE-4C19F4ABE3E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6B6D1C-83C3-44C6-2A8C-F6FB31B7835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98FC64F-C6BC-BB6A-B9FD-E2CB434A020C}"/>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1343234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E25CA-D3AC-92A1-3A8C-85C7DB251DB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43C92BA-504F-66AB-CD1D-3C3E95D44A3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E72FE35-D1A6-9F92-E09B-DA5CE60E0109}"/>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AA608CB-F8DE-D672-CA19-595F415DC882}"/>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020844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027AC-F440-9E9E-C4D4-02655868979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1D038D-F5AA-1B49-B7FF-9E1681FF2CB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C7E6B3-36B3-DC4C-4C61-4608E77450C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E9EC420-7BF4-CC46-2C05-E20179B320A8}"/>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2146361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78915-2028-1B7D-E163-BBE01D037A0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69930D-A7AE-3081-1624-771B551FC1C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F83AAF-8503-BAD6-0810-CFF642D6123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29ACE9D-4702-1403-231C-B37CD8B8F18B}"/>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1091503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8F1C0-6A9F-6891-19C9-8E83106CA39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721124-B68E-EF75-3CAF-F41C375D7E0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C53696-1BEE-D852-8B70-A1C048A5BF5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FB1DE47-E38C-686A-62D8-D4838B189ACA}"/>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135553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5BC4B-E345-9460-EB46-08AF5CC5B5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545A6A-714A-8438-B787-88366E47229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EB381B2-7FA9-3464-6911-5A2842B395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8281E4C-7061-5B12-72D8-C4CA1C483076}"/>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1561078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María Romero García</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447189" y="1534307"/>
            <a:ext cx="5486559" cy="3508653"/>
          </a:xfrm>
          <a:prstGeom prst="rect">
            <a:avLst/>
          </a:prstGeom>
          <a:solidFill>
            <a:schemeClr val="bg1">
              <a:lumMod val="95000"/>
            </a:schemeClr>
          </a:solidFill>
          <a:ln w="28575">
            <a:solidFill>
              <a:srgbClr val="E0700D"/>
            </a:solidFill>
          </a:ln>
        </p:spPr>
        <p:txBody>
          <a:bodyPr wrap="square" rtlCol="0">
            <a:spAutoFit/>
          </a:bodyPr>
          <a:lstStyle/>
          <a:p>
            <a:pPr algn="just"/>
            <a:r>
              <a:rPr lang="en-US" sz="1400" dirty="0">
                <a:latin typeface="Arial" panose="020B0604020202020204" pitchFamily="34" charset="0"/>
                <a:cs typeface="Arial" panose="020B0604020202020204" pitchFamily="34" charset="0"/>
              </a:rPr>
              <a:t>The plot shows the evolution of the coupling coefficient as a function of the normalized propagation length. The results exhibit the expected periodic </a:t>
            </a:r>
            <a:r>
              <a:rPr lang="en-US" sz="1400" dirty="0" err="1">
                <a:latin typeface="Arial" panose="020B0604020202020204" pitchFamily="34" charset="0"/>
                <a:cs typeface="Arial" panose="020B0604020202020204" pitchFamily="34" charset="0"/>
              </a:rPr>
              <a:t>behaviour</a:t>
            </a:r>
            <a:r>
              <a:rPr lang="en-US" sz="1400" dirty="0">
                <a:latin typeface="Arial" panose="020B0604020202020204" pitchFamily="34" charset="0"/>
                <a:cs typeface="Arial" panose="020B0604020202020204" pitchFamily="34" charset="0"/>
              </a:rPr>
              <a:t> of a directional coupler. </a:t>
            </a:r>
          </a:p>
          <a:p>
            <a:pPr algn="just"/>
            <a:endParaRPr lang="en-US" sz="1400" dirty="0">
              <a:latin typeface="Arial" panose="020B0604020202020204" pitchFamily="34" charset="0"/>
              <a:cs typeface="Arial" panose="020B0604020202020204" pitchFamily="34" charset="0"/>
            </a:endParaRPr>
          </a:p>
          <a:p>
            <a:pPr algn="just"/>
            <a:r>
              <a:rPr lang="en-US" sz="1400" dirty="0">
                <a:latin typeface="Arial" panose="020B0604020202020204" pitchFamily="34" charset="0"/>
                <a:cs typeface="Arial" panose="020B0604020202020204" pitchFamily="34" charset="0"/>
              </a:rPr>
              <a:t>When the propagation length reaches the beat length, the coupling coefficient attains its maximum value (K=1), indicating that the optical power has been completely transferred from the input waveguide to the adjacent one. </a:t>
            </a:r>
          </a:p>
          <a:p>
            <a:pPr algn="just"/>
            <a:endParaRPr lang="en-US" sz="1400" dirty="0">
              <a:latin typeface="Arial" panose="020B0604020202020204" pitchFamily="34" charset="0"/>
              <a:cs typeface="Arial" panose="020B0604020202020204" pitchFamily="34" charset="0"/>
            </a:endParaRPr>
          </a:p>
          <a:p>
            <a:pPr algn="just"/>
            <a:r>
              <a:rPr lang="en-US" sz="1400" dirty="0">
                <a:latin typeface="Arial" panose="020B0604020202020204" pitchFamily="34" charset="0"/>
                <a:cs typeface="Arial" panose="020B0604020202020204" pitchFamily="34" charset="0"/>
              </a:rPr>
              <a:t>The coupling coefficient reaches K=0,5 when the propagation length is half of the beating length, which corresponds to equal power distribution between both waveguides (50:50 splitter). Therefore, the beating length defines the distance required for full energy transfer, while half of the beating length determines the length to achieve equal power splitting.</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6000" y="990600"/>
            <a:ext cx="5713412" cy="504706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81949" y="5307802"/>
            <a:ext cx="3383313" cy="983682"/>
          </a:xfrm>
          <a:prstGeom prst="rect">
            <a:avLst/>
          </a:prstGeom>
        </p:spPr>
      </p:pic>
      <p:pic>
        <p:nvPicPr>
          <p:cNvPr id="5" name="Imagen 4">
            <a:extLst>
              <a:ext uri="{FF2B5EF4-FFF2-40B4-BE49-F238E27FC236}">
                <a16:creationId xmlns:a16="http://schemas.microsoft.com/office/drawing/2014/main" id="{08A8C6FD-A996-B508-D1EB-E8F1651B4E1A}"/>
              </a:ext>
            </a:extLst>
          </p:cNvPr>
          <p:cNvPicPr>
            <a:picLocks noChangeAspect="1"/>
          </p:cNvPicPr>
          <p:nvPr/>
        </p:nvPicPr>
        <p:blipFill>
          <a:blip r:embed="rId6"/>
          <a:stretch>
            <a:fillRect/>
          </a:stretch>
        </p:blipFill>
        <p:spPr>
          <a:xfrm>
            <a:off x="6241953" y="1262062"/>
            <a:ext cx="5400675" cy="4333875"/>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2452C-E0C1-E6D0-4B41-8AAAC551C4A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D80A5FC5-A2D2-4B00-7E4E-C2501C129EEE}"/>
              </a:ext>
            </a:extLst>
          </p:cNvPr>
          <p:cNvSpPr txBox="1">
            <a:spLocks noGrp="1"/>
          </p:cNvSpPr>
          <p:nvPr>
            <p:ph type="title"/>
          </p:nvPr>
        </p:nvSpPr>
        <p:spPr>
          <a:xfrm>
            <a:off x="228600" y="12462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C1526E43-12F2-FCC4-91F3-1B67F8C1A0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393A9AB-2281-4389-DE31-36EA6F782914}"/>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8FBF7B68-E208-E28D-49AB-9A02675A317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4" name="Tabla 3">
            <a:extLst>
              <a:ext uri="{FF2B5EF4-FFF2-40B4-BE49-F238E27FC236}">
                <a16:creationId xmlns:a16="http://schemas.microsoft.com/office/drawing/2014/main" id="{288DEFD7-8426-EEC1-820F-DB59BDF1A105}"/>
              </a:ext>
            </a:extLst>
          </p:cNvPr>
          <p:cNvGraphicFramePr>
            <a:graphicFrameLocks noGrp="1"/>
          </p:cNvGraphicFramePr>
          <p:nvPr>
            <p:extLst>
              <p:ext uri="{D42A27DB-BD31-4B8C-83A1-F6EECF244321}">
                <p14:modId xmlns:p14="http://schemas.microsoft.com/office/powerpoint/2010/main" val="894355718"/>
              </p:ext>
            </p:extLst>
          </p:nvPr>
        </p:nvGraphicFramePr>
        <p:xfrm>
          <a:off x="535702" y="609600"/>
          <a:ext cx="5026898" cy="2595880"/>
        </p:xfrm>
        <a:graphic>
          <a:graphicData uri="http://schemas.openxmlformats.org/drawingml/2006/table">
            <a:tbl>
              <a:tblPr firstRow="1" bandRow="1">
                <a:tableStyleId>{5C22544A-7EE6-4342-B048-85BDC9FD1C3A}</a:tableStyleId>
              </a:tblPr>
              <a:tblGrid>
                <a:gridCol w="2903235">
                  <a:extLst>
                    <a:ext uri="{9D8B030D-6E8A-4147-A177-3AD203B41FA5}">
                      <a16:colId xmlns:a16="http://schemas.microsoft.com/office/drawing/2014/main" val="1289272814"/>
                    </a:ext>
                  </a:extLst>
                </a:gridCol>
                <a:gridCol w="2123663">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0,6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47.0137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0.9688</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0.9583</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0.1851</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['0.4791', '0.4791']</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['0.5000', '0.5000']</a:t>
                      </a:r>
                      <a:endParaRPr lang="es-ES" dirty="0"/>
                    </a:p>
                  </a:txBody>
                  <a:tcPr/>
                </a:tc>
                <a:extLst>
                  <a:ext uri="{0D108BD9-81ED-4DB2-BD59-A6C34878D82A}">
                    <a16:rowId xmlns:a16="http://schemas.microsoft.com/office/drawing/2014/main" val="2435177504"/>
                  </a:ext>
                </a:extLst>
              </a:tr>
            </a:tbl>
          </a:graphicData>
        </a:graphic>
      </p:graphicFrame>
      <p:graphicFrame>
        <p:nvGraphicFramePr>
          <p:cNvPr id="5" name="Tabla 4">
            <a:extLst>
              <a:ext uri="{FF2B5EF4-FFF2-40B4-BE49-F238E27FC236}">
                <a16:creationId xmlns:a16="http://schemas.microsoft.com/office/drawing/2014/main" id="{61C02D45-1D7D-377C-85B4-806B76A6DB75}"/>
              </a:ext>
            </a:extLst>
          </p:cNvPr>
          <p:cNvGraphicFramePr>
            <a:graphicFrameLocks noGrp="1"/>
          </p:cNvGraphicFramePr>
          <p:nvPr>
            <p:extLst>
              <p:ext uri="{D42A27DB-BD31-4B8C-83A1-F6EECF244321}">
                <p14:modId xmlns:p14="http://schemas.microsoft.com/office/powerpoint/2010/main" val="855871359"/>
              </p:ext>
            </p:extLst>
          </p:nvPr>
        </p:nvGraphicFramePr>
        <p:xfrm>
          <a:off x="535702" y="3482828"/>
          <a:ext cx="5026897" cy="2595880"/>
        </p:xfrm>
        <a:graphic>
          <a:graphicData uri="http://schemas.openxmlformats.org/drawingml/2006/table">
            <a:tbl>
              <a:tblPr firstRow="1" bandRow="1">
                <a:tableStyleId>{5C22544A-7EE6-4342-B048-85BDC9FD1C3A}</a:tableStyleId>
              </a:tblPr>
              <a:tblGrid>
                <a:gridCol w="2903235">
                  <a:extLst>
                    <a:ext uri="{9D8B030D-6E8A-4147-A177-3AD203B41FA5}">
                      <a16:colId xmlns:a16="http://schemas.microsoft.com/office/drawing/2014/main" val="1289272814"/>
                    </a:ext>
                  </a:extLst>
                </a:gridCol>
                <a:gridCol w="2123662">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0,7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64.0328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0.9841</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0.9737</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0.1157</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['0.4869', '0.4868']</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['0.5000', '0.5000']</a:t>
                      </a:r>
                      <a:endParaRPr lang="es-ES" dirty="0"/>
                    </a:p>
                  </a:txBody>
                  <a:tcPr/>
                </a:tc>
                <a:extLst>
                  <a:ext uri="{0D108BD9-81ED-4DB2-BD59-A6C34878D82A}">
                    <a16:rowId xmlns:a16="http://schemas.microsoft.com/office/drawing/2014/main" val="2435177504"/>
                  </a:ext>
                </a:extLst>
              </a:tr>
            </a:tbl>
          </a:graphicData>
        </a:graphic>
      </p:graphicFrame>
      <p:pic>
        <p:nvPicPr>
          <p:cNvPr id="9" name="Imagen 8">
            <a:extLst>
              <a:ext uri="{FF2B5EF4-FFF2-40B4-BE49-F238E27FC236}">
                <a16:creationId xmlns:a16="http://schemas.microsoft.com/office/drawing/2014/main" id="{93770584-B769-9838-3DA5-133F05222065}"/>
              </a:ext>
            </a:extLst>
          </p:cNvPr>
          <p:cNvPicPr>
            <a:picLocks noChangeAspect="1"/>
          </p:cNvPicPr>
          <p:nvPr/>
        </p:nvPicPr>
        <p:blipFill>
          <a:blip r:embed="rId5"/>
          <a:stretch>
            <a:fillRect/>
          </a:stretch>
        </p:blipFill>
        <p:spPr>
          <a:xfrm>
            <a:off x="5956847" y="1260450"/>
            <a:ext cx="5505450" cy="1400175"/>
          </a:xfrm>
          <a:prstGeom prst="rect">
            <a:avLst/>
          </a:prstGeom>
        </p:spPr>
      </p:pic>
      <p:pic>
        <p:nvPicPr>
          <p:cNvPr id="11" name="Imagen 10">
            <a:extLst>
              <a:ext uri="{FF2B5EF4-FFF2-40B4-BE49-F238E27FC236}">
                <a16:creationId xmlns:a16="http://schemas.microsoft.com/office/drawing/2014/main" id="{2289BB0C-CAB0-083F-E79D-316CEC383289}"/>
              </a:ext>
            </a:extLst>
          </p:cNvPr>
          <p:cNvPicPr>
            <a:picLocks noChangeAspect="1"/>
          </p:cNvPicPr>
          <p:nvPr/>
        </p:nvPicPr>
        <p:blipFill>
          <a:blip r:embed="rId6"/>
          <a:stretch>
            <a:fillRect/>
          </a:stretch>
        </p:blipFill>
        <p:spPr>
          <a:xfrm>
            <a:off x="5949131" y="4057463"/>
            <a:ext cx="5505450" cy="1266825"/>
          </a:xfrm>
          <a:prstGeom prst="rect">
            <a:avLst/>
          </a:prstGeom>
        </p:spPr>
      </p:pic>
    </p:spTree>
    <p:extLst>
      <p:ext uri="{BB962C8B-B14F-4D97-AF65-F5344CB8AC3E}">
        <p14:creationId xmlns:p14="http://schemas.microsoft.com/office/powerpoint/2010/main" val="1714625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434EE-E711-544F-9BDC-C656B14E077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EFA02E7-5AB4-4015-3F87-B9767DD5220C}"/>
              </a:ext>
            </a:extLst>
          </p:cNvPr>
          <p:cNvSpPr txBox="1">
            <a:spLocks noGrp="1"/>
          </p:cNvSpPr>
          <p:nvPr>
            <p:ph type="title"/>
          </p:nvPr>
        </p:nvSpPr>
        <p:spPr>
          <a:xfrm>
            <a:off x="228600" y="12462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EC91C1AD-58DC-4016-6DC7-37BEE48903B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F6F757E-0DAB-4F18-E07F-865437DACD95}"/>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BF0B870E-FE05-88D8-CC58-612B4049FFF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4" name="Tabla 3">
            <a:extLst>
              <a:ext uri="{FF2B5EF4-FFF2-40B4-BE49-F238E27FC236}">
                <a16:creationId xmlns:a16="http://schemas.microsoft.com/office/drawing/2014/main" id="{01C2DE39-7E59-2F2E-1471-780965852512}"/>
              </a:ext>
            </a:extLst>
          </p:cNvPr>
          <p:cNvGraphicFramePr>
            <a:graphicFrameLocks noGrp="1"/>
          </p:cNvGraphicFramePr>
          <p:nvPr>
            <p:extLst>
              <p:ext uri="{D42A27DB-BD31-4B8C-83A1-F6EECF244321}">
                <p14:modId xmlns:p14="http://schemas.microsoft.com/office/powerpoint/2010/main" val="936557876"/>
              </p:ext>
            </p:extLst>
          </p:nvPr>
        </p:nvGraphicFramePr>
        <p:xfrm>
          <a:off x="535702" y="609600"/>
          <a:ext cx="5026898" cy="2595880"/>
        </p:xfrm>
        <a:graphic>
          <a:graphicData uri="http://schemas.openxmlformats.org/drawingml/2006/table">
            <a:tbl>
              <a:tblPr firstRow="1" bandRow="1">
                <a:tableStyleId>{5C22544A-7EE6-4342-B048-85BDC9FD1C3A}</a:tableStyleId>
              </a:tblPr>
              <a:tblGrid>
                <a:gridCol w="2903235">
                  <a:extLst>
                    <a:ext uri="{9D8B030D-6E8A-4147-A177-3AD203B41FA5}">
                      <a16:colId xmlns:a16="http://schemas.microsoft.com/office/drawing/2014/main" val="1289272814"/>
                    </a:ext>
                  </a:extLst>
                </a:gridCol>
                <a:gridCol w="2123663">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0,8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86.9819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0.9882</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0.9778</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0.0976</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['0.4888', '0.4890']</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['0.4999', '0.5001']</a:t>
                      </a:r>
                      <a:endParaRPr lang="es-ES" dirty="0"/>
                    </a:p>
                  </a:txBody>
                  <a:tcPr/>
                </a:tc>
                <a:extLst>
                  <a:ext uri="{0D108BD9-81ED-4DB2-BD59-A6C34878D82A}">
                    <a16:rowId xmlns:a16="http://schemas.microsoft.com/office/drawing/2014/main" val="2435177504"/>
                  </a:ext>
                </a:extLst>
              </a:tr>
            </a:tbl>
          </a:graphicData>
        </a:graphic>
      </p:graphicFrame>
      <p:graphicFrame>
        <p:nvGraphicFramePr>
          <p:cNvPr id="5" name="Tabla 4">
            <a:extLst>
              <a:ext uri="{FF2B5EF4-FFF2-40B4-BE49-F238E27FC236}">
                <a16:creationId xmlns:a16="http://schemas.microsoft.com/office/drawing/2014/main" id="{26166862-A210-8BB8-7AC6-1493A1B69ED7}"/>
              </a:ext>
            </a:extLst>
          </p:cNvPr>
          <p:cNvGraphicFramePr>
            <a:graphicFrameLocks noGrp="1"/>
          </p:cNvGraphicFramePr>
          <p:nvPr>
            <p:extLst>
              <p:ext uri="{D42A27DB-BD31-4B8C-83A1-F6EECF244321}">
                <p14:modId xmlns:p14="http://schemas.microsoft.com/office/powerpoint/2010/main" val="3363316316"/>
              </p:ext>
            </p:extLst>
          </p:nvPr>
        </p:nvGraphicFramePr>
        <p:xfrm>
          <a:off x="535702" y="3429000"/>
          <a:ext cx="5026898" cy="2595880"/>
        </p:xfrm>
        <a:graphic>
          <a:graphicData uri="http://schemas.openxmlformats.org/drawingml/2006/table">
            <a:tbl>
              <a:tblPr firstRow="1" bandRow="1">
                <a:tableStyleId>{5C22544A-7EE6-4342-B048-85BDC9FD1C3A}</a:tableStyleId>
              </a:tblPr>
              <a:tblGrid>
                <a:gridCol w="2903235">
                  <a:extLst>
                    <a:ext uri="{9D8B030D-6E8A-4147-A177-3AD203B41FA5}">
                      <a16:colId xmlns:a16="http://schemas.microsoft.com/office/drawing/2014/main" val="1289272814"/>
                    </a:ext>
                  </a:extLst>
                </a:gridCol>
                <a:gridCol w="2123663">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0,9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117.8870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0.9832</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0.9728</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0.1198</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['0.4863', '0.4865']</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['0.4999', '0.5001']</a:t>
                      </a:r>
                      <a:endParaRPr lang="es-ES" dirty="0"/>
                    </a:p>
                  </a:txBody>
                  <a:tcPr/>
                </a:tc>
                <a:extLst>
                  <a:ext uri="{0D108BD9-81ED-4DB2-BD59-A6C34878D82A}">
                    <a16:rowId xmlns:a16="http://schemas.microsoft.com/office/drawing/2014/main" val="2435177504"/>
                  </a:ext>
                </a:extLst>
              </a:tr>
            </a:tbl>
          </a:graphicData>
        </a:graphic>
      </p:graphicFrame>
      <p:pic>
        <p:nvPicPr>
          <p:cNvPr id="6" name="Imagen 5">
            <a:extLst>
              <a:ext uri="{FF2B5EF4-FFF2-40B4-BE49-F238E27FC236}">
                <a16:creationId xmlns:a16="http://schemas.microsoft.com/office/drawing/2014/main" id="{2E3AADDD-86BE-70B1-6160-0F1883D905DC}"/>
              </a:ext>
            </a:extLst>
          </p:cNvPr>
          <p:cNvPicPr>
            <a:picLocks noChangeAspect="1"/>
          </p:cNvPicPr>
          <p:nvPr/>
        </p:nvPicPr>
        <p:blipFill>
          <a:blip r:embed="rId5"/>
          <a:stretch>
            <a:fillRect/>
          </a:stretch>
        </p:blipFill>
        <p:spPr>
          <a:xfrm>
            <a:off x="5747082" y="1221666"/>
            <a:ext cx="6159168" cy="1300032"/>
          </a:xfrm>
          <a:prstGeom prst="rect">
            <a:avLst/>
          </a:prstGeom>
        </p:spPr>
      </p:pic>
      <p:pic>
        <p:nvPicPr>
          <p:cNvPr id="8" name="Imagen 7">
            <a:extLst>
              <a:ext uri="{FF2B5EF4-FFF2-40B4-BE49-F238E27FC236}">
                <a16:creationId xmlns:a16="http://schemas.microsoft.com/office/drawing/2014/main" id="{F1B39DCF-1CB1-BEB0-7C65-239B38C711EC}"/>
              </a:ext>
            </a:extLst>
          </p:cNvPr>
          <p:cNvPicPr>
            <a:picLocks noChangeAspect="1"/>
          </p:cNvPicPr>
          <p:nvPr/>
        </p:nvPicPr>
        <p:blipFill>
          <a:blip r:embed="rId6"/>
          <a:stretch>
            <a:fillRect/>
          </a:stretch>
        </p:blipFill>
        <p:spPr>
          <a:xfrm>
            <a:off x="5903525" y="4131754"/>
            <a:ext cx="6180445" cy="1218981"/>
          </a:xfrm>
          <a:prstGeom prst="rect">
            <a:avLst/>
          </a:prstGeom>
        </p:spPr>
      </p:pic>
    </p:spTree>
    <p:extLst>
      <p:ext uri="{BB962C8B-B14F-4D97-AF65-F5344CB8AC3E}">
        <p14:creationId xmlns:p14="http://schemas.microsoft.com/office/powerpoint/2010/main" val="905617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DDD9C-DB4B-790A-6190-04B43EED57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BB4F233E-6995-6EB7-A3E2-70CBC0B9425A}"/>
              </a:ext>
            </a:extLst>
          </p:cNvPr>
          <p:cNvSpPr txBox="1">
            <a:spLocks noGrp="1"/>
          </p:cNvSpPr>
          <p:nvPr>
            <p:ph type="title"/>
          </p:nvPr>
        </p:nvSpPr>
        <p:spPr>
          <a:xfrm>
            <a:off x="228600" y="12462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A53E83A8-21F5-FAC8-9056-CE48EFFB142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3B082EE-91FC-362C-C58E-594B28AC3892}"/>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6532A663-A585-B46B-198F-F4F812BB9A8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4" name="Tabla 3">
            <a:extLst>
              <a:ext uri="{FF2B5EF4-FFF2-40B4-BE49-F238E27FC236}">
                <a16:creationId xmlns:a16="http://schemas.microsoft.com/office/drawing/2014/main" id="{554C1644-1454-D77B-F979-CB4EEA7951B3}"/>
              </a:ext>
            </a:extLst>
          </p:cNvPr>
          <p:cNvGraphicFramePr>
            <a:graphicFrameLocks noGrp="1"/>
          </p:cNvGraphicFramePr>
          <p:nvPr>
            <p:extLst>
              <p:ext uri="{D42A27DB-BD31-4B8C-83A1-F6EECF244321}">
                <p14:modId xmlns:p14="http://schemas.microsoft.com/office/powerpoint/2010/main" val="4253284417"/>
              </p:ext>
            </p:extLst>
          </p:nvPr>
        </p:nvGraphicFramePr>
        <p:xfrm>
          <a:off x="535702" y="609600"/>
          <a:ext cx="4950698" cy="2595880"/>
        </p:xfrm>
        <a:graphic>
          <a:graphicData uri="http://schemas.openxmlformats.org/drawingml/2006/table">
            <a:tbl>
              <a:tblPr firstRow="1" bandRow="1">
                <a:tableStyleId>{5C22544A-7EE6-4342-B048-85BDC9FD1C3A}</a:tableStyleId>
              </a:tblPr>
              <a:tblGrid>
                <a:gridCol w="2604304">
                  <a:extLst>
                    <a:ext uri="{9D8B030D-6E8A-4147-A177-3AD203B41FA5}">
                      <a16:colId xmlns:a16="http://schemas.microsoft.com/office/drawing/2014/main" val="1289272814"/>
                    </a:ext>
                  </a:extLst>
                </a:gridCol>
                <a:gridCol w="2346394">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1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159.4421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0.9663</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0.9560</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0.1955</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['0.4778', '0.4782']</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['0.4998', '0.5002']</a:t>
                      </a:r>
                      <a:endParaRPr lang="es-ES" dirty="0"/>
                    </a:p>
                  </a:txBody>
                  <a:tcPr/>
                </a:tc>
                <a:extLst>
                  <a:ext uri="{0D108BD9-81ED-4DB2-BD59-A6C34878D82A}">
                    <a16:rowId xmlns:a16="http://schemas.microsoft.com/office/drawing/2014/main" val="2435177504"/>
                  </a:ext>
                </a:extLst>
              </a:tr>
            </a:tbl>
          </a:graphicData>
        </a:graphic>
      </p:graphicFrame>
      <p:graphicFrame>
        <p:nvGraphicFramePr>
          <p:cNvPr id="5" name="Tabla 4">
            <a:extLst>
              <a:ext uri="{FF2B5EF4-FFF2-40B4-BE49-F238E27FC236}">
                <a16:creationId xmlns:a16="http://schemas.microsoft.com/office/drawing/2014/main" id="{AA4C573A-9C2B-7F7E-DF88-F219AAB8BB38}"/>
              </a:ext>
            </a:extLst>
          </p:cNvPr>
          <p:cNvGraphicFramePr>
            <a:graphicFrameLocks noGrp="1"/>
          </p:cNvGraphicFramePr>
          <p:nvPr>
            <p:extLst>
              <p:ext uri="{D42A27DB-BD31-4B8C-83A1-F6EECF244321}">
                <p14:modId xmlns:p14="http://schemas.microsoft.com/office/powerpoint/2010/main" val="1759790386"/>
              </p:ext>
            </p:extLst>
          </p:nvPr>
        </p:nvGraphicFramePr>
        <p:xfrm>
          <a:off x="535702" y="3429000"/>
          <a:ext cx="4950698" cy="2595880"/>
        </p:xfrm>
        <a:graphic>
          <a:graphicData uri="http://schemas.openxmlformats.org/drawingml/2006/table">
            <a:tbl>
              <a:tblPr firstRow="1" bandRow="1">
                <a:tableStyleId>{5C22544A-7EE6-4342-B048-85BDC9FD1C3A}</a:tableStyleId>
              </a:tblPr>
              <a:tblGrid>
                <a:gridCol w="2604304">
                  <a:extLst>
                    <a:ext uri="{9D8B030D-6E8A-4147-A177-3AD203B41FA5}">
                      <a16:colId xmlns:a16="http://schemas.microsoft.com/office/drawing/2014/main" val="1289272814"/>
                    </a:ext>
                  </a:extLst>
                </a:gridCol>
                <a:gridCol w="2346394">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1,1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215.2738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0.9360</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0.9258</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0.3351</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['0.4628', '0.4629']</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['0.4999', '0.5001']</a:t>
                      </a:r>
                      <a:endParaRPr lang="es-ES" dirty="0"/>
                    </a:p>
                  </a:txBody>
                  <a:tcPr/>
                </a:tc>
                <a:extLst>
                  <a:ext uri="{0D108BD9-81ED-4DB2-BD59-A6C34878D82A}">
                    <a16:rowId xmlns:a16="http://schemas.microsoft.com/office/drawing/2014/main" val="2435177504"/>
                  </a:ext>
                </a:extLst>
              </a:tr>
            </a:tbl>
          </a:graphicData>
        </a:graphic>
      </p:graphicFrame>
      <p:pic>
        <p:nvPicPr>
          <p:cNvPr id="6" name="Imagen 5">
            <a:extLst>
              <a:ext uri="{FF2B5EF4-FFF2-40B4-BE49-F238E27FC236}">
                <a16:creationId xmlns:a16="http://schemas.microsoft.com/office/drawing/2014/main" id="{83A01998-C6B8-EDE8-AB75-269850C23135}"/>
              </a:ext>
            </a:extLst>
          </p:cNvPr>
          <p:cNvPicPr>
            <a:picLocks noChangeAspect="1"/>
          </p:cNvPicPr>
          <p:nvPr/>
        </p:nvPicPr>
        <p:blipFill>
          <a:blip r:embed="rId5"/>
          <a:stretch>
            <a:fillRect/>
          </a:stretch>
        </p:blipFill>
        <p:spPr>
          <a:xfrm>
            <a:off x="5777769" y="1413218"/>
            <a:ext cx="6052281" cy="1120405"/>
          </a:xfrm>
          <a:prstGeom prst="rect">
            <a:avLst/>
          </a:prstGeom>
        </p:spPr>
      </p:pic>
      <p:pic>
        <p:nvPicPr>
          <p:cNvPr id="8" name="Imagen 7">
            <a:extLst>
              <a:ext uri="{FF2B5EF4-FFF2-40B4-BE49-F238E27FC236}">
                <a16:creationId xmlns:a16="http://schemas.microsoft.com/office/drawing/2014/main" id="{4626EAE5-7411-C59F-ED47-13C785DE425A}"/>
              </a:ext>
            </a:extLst>
          </p:cNvPr>
          <p:cNvPicPr>
            <a:picLocks noChangeAspect="1"/>
          </p:cNvPicPr>
          <p:nvPr/>
        </p:nvPicPr>
        <p:blipFill>
          <a:blip r:embed="rId6"/>
          <a:stretch>
            <a:fillRect/>
          </a:stretch>
        </p:blipFill>
        <p:spPr>
          <a:xfrm>
            <a:off x="5629428" y="4322448"/>
            <a:ext cx="6348962" cy="1120405"/>
          </a:xfrm>
          <a:prstGeom prst="rect">
            <a:avLst/>
          </a:prstGeom>
        </p:spPr>
      </p:pic>
    </p:spTree>
    <p:extLst>
      <p:ext uri="{BB962C8B-B14F-4D97-AF65-F5344CB8AC3E}">
        <p14:creationId xmlns:p14="http://schemas.microsoft.com/office/powerpoint/2010/main" val="2800438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16404-6C62-5A7C-BF03-F8D4CC230C3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9FE397-8B77-5215-83D5-280ACCCDA51E}"/>
              </a:ext>
            </a:extLst>
          </p:cNvPr>
          <p:cNvSpPr txBox="1">
            <a:spLocks noGrp="1"/>
          </p:cNvSpPr>
          <p:nvPr>
            <p:ph type="title"/>
          </p:nvPr>
        </p:nvSpPr>
        <p:spPr>
          <a:xfrm>
            <a:off x="228600" y="12462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C2087E4B-0238-6A82-DC03-4BA8E53449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D26A759-6F2B-BEA2-F268-759A772F1746}"/>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B7B25805-CE38-8355-0794-1EDF120EE7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4" name="Tabla 3">
            <a:extLst>
              <a:ext uri="{FF2B5EF4-FFF2-40B4-BE49-F238E27FC236}">
                <a16:creationId xmlns:a16="http://schemas.microsoft.com/office/drawing/2014/main" id="{85715EC9-75CE-194D-E2B1-F0CD4A9D939D}"/>
              </a:ext>
            </a:extLst>
          </p:cNvPr>
          <p:cNvGraphicFramePr>
            <a:graphicFrameLocks noGrp="1"/>
          </p:cNvGraphicFramePr>
          <p:nvPr>
            <p:extLst>
              <p:ext uri="{D42A27DB-BD31-4B8C-83A1-F6EECF244321}">
                <p14:modId xmlns:p14="http://schemas.microsoft.com/office/powerpoint/2010/main" val="3775067777"/>
              </p:ext>
            </p:extLst>
          </p:nvPr>
        </p:nvGraphicFramePr>
        <p:xfrm>
          <a:off x="535702" y="609600"/>
          <a:ext cx="4874498" cy="2595880"/>
        </p:xfrm>
        <a:graphic>
          <a:graphicData uri="http://schemas.openxmlformats.org/drawingml/2006/table">
            <a:tbl>
              <a:tblPr firstRow="1" bandRow="1">
                <a:tableStyleId>{5C22544A-7EE6-4342-B048-85BDC9FD1C3A}</a:tableStyleId>
              </a:tblPr>
              <a:tblGrid>
                <a:gridCol w="2604304">
                  <a:extLst>
                    <a:ext uri="{9D8B030D-6E8A-4147-A177-3AD203B41FA5}">
                      <a16:colId xmlns:a16="http://schemas.microsoft.com/office/drawing/2014/main" val="1289272814"/>
                    </a:ext>
                  </a:extLst>
                </a:gridCol>
                <a:gridCol w="2270194">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1,2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290.2147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0.8916</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0.8818</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0.5464</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['0.4407', '0.4410']</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['0.4998', '0.5002']</a:t>
                      </a:r>
                      <a:endParaRPr lang="es-ES" dirty="0"/>
                    </a:p>
                  </a:txBody>
                  <a:tcPr/>
                </a:tc>
                <a:extLst>
                  <a:ext uri="{0D108BD9-81ED-4DB2-BD59-A6C34878D82A}">
                    <a16:rowId xmlns:a16="http://schemas.microsoft.com/office/drawing/2014/main" val="2435177504"/>
                  </a:ext>
                </a:extLst>
              </a:tr>
            </a:tbl>
          </a:graphicData>
        </a:graphic>
      </p:graphicFrame>
      <p:graphicFrame>
        <p:nvGraphicFramePr>
          <p:cNvPr id="5" name="Tabla 4">
            <a:extLst>
              <a:ext uri="{FF2B5EF4-FFF2-40B4-BE49-F238E27FC236}">
                <a16:creationId xmlns:a16="http://schemas.microsoft.com/office/drawing/2014/main" id="{CADEDFEC-0218-2FEA-59CC-CDA7755C0C47}"/>
              </a:ext>
            </a:extLst>
          </p:cNvPr>
          <p:cNvGraphicFramePr>
            <a:graphicFrameLocks noGrp="1"/>
          </p:cNvGraphicFramePr>
          <p:nvPr>
            <p:extLst>
              <p:ext uri="{D42A27DB-BD31-4B8C-83A1-F6EECF244321}">
                <p14:modId xmlns:p14="http://schemas.microsoft.com/office/powerpoint/2010/main" val="3201933064"/>
              </p:ext>
            </p:extLst>
          </p:nvPr>
        </p:nvGraphicFramePr>
        <p:xfrm>
          <a:off x="535702" y="3429000"/>
          <a:ext cx="4874498" cy="2595880"/>
        </p:xfrm>
        <a:graphic>
          <a:graphicData uri="http://schemas.openxmlformats.org/drawingml/2006/table">
            <a:tbl>
              <a:tblPr firstRow="1" bandRow="1">
                <a:tableStyleId>{5C22544A-7EE6-4342-B048-85BDC9FD1C3A}</a:tableStyleId>
              </a:tblPr>
              <a:tblGrid>
                <a:gridCol w="2604304">
                  <a:extLst>
                    <a:ext uri="{9D8B030D-6E8A-4147-A177-3AD203B41FA5}">
                      <a16:colId xmlns:a16="http://schemas.microsoft.com/office/drawing/2014/main" val="1289272814"/>
                    </a:ext>
                  </a:extLst>
                </a:gridCol>
                <a:gridCol w="2270194">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1,3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390.6951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0.8474</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0.8380</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0.7677</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['0.4189', '0.4191']</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['0.4999', '0.5001']</a:t>
                      </a:r>
                      <a:endParaRPr lang="es-ES" dirty="0"/>
                    </a:p>
                  </a:txBody>
                  <a:tcPr/>
                </a:tc>
                <a:extLst>
                  <a:ext uri="{0D108BD9-81ED-4DB2-BD59-A6C34878D82A}">
                    <a16:rowId xmlns:a16="http://schemas.microsoft.com/office/drawing/2014/main" val="2435177504"/>
                  </a:ext>
                </a:extLst>
              </a:tr>
            </a:tbl>
          </a:graphicData>
        </a:graphic>
      </p:graphicFrame>
      <p:pic>
        <p:nvPicPr>
          <p:cNvPr id="6" name="Imagen 5">
            <a:extLst>
              <a:ext uri="{FF2B5EF4-FFF2-40B4-BE49-F238E27FC236}">
                <a16:creationId xmlns:a16="http://schemas.microsoft.com/office/drawing/2014/main" id="{4DB26C87-F280-C958-F268-F45A00678EF4}"/>
              </a:ext>
            </a:extLst>
          </p:cNvPr>
          <p:cNvPicPr>
            <a:picLocks noChangeAspect="1"/>
          </p:cNvPicPr>
          <p:nvPr/>
        </p:nvPicPr>
        <p:blipFill>
          <a:blip r:embed="rId5"/>
          <a:stretch>
            <a:fillRect/>
          </a:stretch>
        </p:blipFill>
        <p:spPr>
          <a:xfrm>
            <a:off x="5638800" y="1540066"/>
            <a:ext cx="6355299" cy="1077542"/>
          </a:xfrm>
          <a:prstGeom prst="rect">
            <a:avLst/>
          </a:prstGeom>
        </p:spPr>
      </p:pic>
      <p:pic>
        <p:nvPicPr>
          <p:cNvPr id="8" name="Imagen 7">
            <a:extLst>
              <a:ext uri="{FF2B5EF4-FFF2-40B4-BE49-F238E27FC236}">
                <a16:creationId xmlns:a16="http://schemas.microsoft.com/office/drawing/2014/main" id="{0C41154A-EADF-F691-FC9B-A5C16B8283D7}"/>
              </a:ext>
            </a:extLst>
          </p:cNvPr>
          <p:cNvPicPr>
            <a:picLocks noChangeAspect="1"/>
          </p:cNvPicPr>
          <p:nvPr/>
        </p:nvPicPr>
        <p:blipFill>
          <a:blip r:embed="rId6"/>
          <a:stretch>
            <a:fillRect/>
          </a:stretch>
        </p:blipFill>
        <p:spPr>
          <a:xfrm>
            <a:off x="5538453" y="4188169"/>
            <a:ext cx="6555992" cy="1077542"/>
          </a:xfrm>
          <a:prstGeom prst="rect">
            <a:avLst/>
          </a:prstGeom>
        </p:spPr>
      </p:pic>
    </p:spTree>
    <p:extLst>
      <p:ext uri="{BB962C8B-B14F-4D97-AF65-F5344CB8AC3E}">
        <p14:creationId xmlns:p14="http://schemas.microsoft.com/office/powerpoint/2010/main" val="923339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A6BCE-DD4F-C345-DAA4-5BD1F499373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1FC3D9-B62B-7448-2768-CB755C0EAD70}"/>
              </a:ext>
            </a:extLst>
          </p:cNvPr>
          <p:cNvSpPr txBox="1">
            <a:spLocks noGrp="1"/>
          </p:cNvSpPr>
          <p:nvPr>
            <p:ph type="title"/>
          </p:nvPr>
        </p:nvSpPr>
        <p:spPr>
          <a:xfrm>
            <a:off x="228600" y="12462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9406D017-CD89-FF31-3733-C9585E1A1DC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DA869BCA-BFAC-3D33-C93D-F3AA74995666}"/>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2C5F0D90-A4C5-BBB2-7C2E-A61C3726154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4" name="Tabla 3">
            <a:extLst>
              <a:ext uri="{FF2B5EF4-FFF2-40B4-BE49-F238E27FC236}">
                <a16:creationId xmlns:a16="http://schemas.microsoft.com/office/drawing/2014/main" id="{844DBBD7-0233-C522-4ADD-3F5F9007C441}"/>
              </a:ext>
            </a:extLst>
          </p:cNvPr>
          <p:cNvGraphicFramePr>
            <a:graphicFrameLocks noGrp="1"/>
          </p:cNvGraphicFramePr>
          <p:nvPr>
            <p:extLst>
              <p:ext uri="{D42A27DB-BD31-4B8C-83A1-F6EECF244321}">
                <p14:modId xmlns:p14="http://schemas.microsoft.com/office/powerpoint/2010/main" val="840331445"/>
              </p:ext>
            </p:extLst>
          </p:nvPr>
        </p:nvGraphicFramePr>
        <p:xfrm>
          <a:off x="535702" y="609600"/>
          <a:ext cx="4950698" cy="2595880"/>
        </p:xfrm>
        <a:graphic>
          <a:graphicData uri="http://schemas.openxmlformats.org/drawingml/2006/table">
            <a:tbl>
              <a:tblPr firstRow="1" bandRow="1">
                <a:tableStyleId>{5C22544A-7EE6-4342-B048-85BDC9FD1C3A}</a:tableStyleId>
              </a:tblPr>
              <a:tblGrid>
                <a:gridCol w="2604304">
                  <a:extLst>
                    <a:ext uri="{9D8B030D-6E8A-4147-A177-3AD203B41FA5}">
                      <a16:colId xmlns:a16="http://schemas.microsoft.com/office/drawing/2014/main" val="1289272814"/>
                    </a:ext>
                  </a:extLst>
                </a:gridCol>
                <a:gridCol w="2346394">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1,4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endParaRPr lang="es-ES" dirty="0"/>
                    </a:p>
                  </a:txBody>
                  <a:tcPr/>
                </a:tc>
                <a:tc>
                  <a:txBody>
                    <a:bodyPr/>
                    <a:lstStyle/>
                    <a:p>
                      <a:r>
                        <a:rPr lang="es-ES" b="0" i="0" dirty="0">
                          <a:solidFill>
                            <a:schemeClr val="dk1"/>
                          </a:solidFill>
                          <a:effectLst/>
                          <a:latin typeface="+mn-lt"/>
                          <a:ea typeface="+mn-ea"/>
                          <a:cs typeface="+mn-cs"/>
                        </a:rPr>
                        <a:t>525.2393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0.7870</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0.7782</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1.0893</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['0.3889', '0.3893']</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['0.4997', '0.5003']</a:t>
                      </a:r>
                      <a:endParaRPr lang="es-ES" dirty="0"/>
                    </a:p>
                  </a:txBody>
                  <a:tcPr/>
                </a:tc>
                <a:extLst>
                  <a:ext uri="{0D108BD9-81ED-4DB2-BD59-A6C34878D82A}">
                    <a16:rowId xmlns:a16="http://schemas.microsoft.com/office/drawing/2014/main" val="2435177504"/>
                  </a:ext>
                </a:extLst>
              </a:tr>
            </a:tbl>
          </a:graphicData>
        </a:graphic>
      </p:graphicFrame>
      <p:graphicFrame>
        <p:nvGraphicFramePr>
          <p:cNvPr id="5" name="Tabla 4">
            <a:extLst>
              <a:ext uri="{FF2B5EF4-FFF2-40B4-BE49-F238E27FC236}">
                <a16:creationId xmlns:a16="http://schemas.microsoft.com/office/drawing/2014/main" id="{E96F9A3C-B9A5-A6D3-92E3-14B87529AB7F}"/>
              </a:ext>
            </a:extLst>
          </p:cNvPr>
          <p:cNvGraphicFramePr>
            <a:graphicFrameLocks noGrp="1"/>
          </p:cNvGraphicFramePr>
          <p:nvPr>
            <p:extLst>
              <p:ext uri="{D42A27DB-BD31-4B8C-83A1-F6EECF244321}">
                <p14:modId xmlns:p14="http://schemas.microsoft.com/office/powerpoint/2010/main" val="157630150"/>
              </p:ext>
            </p:extLst>
          </p:nvPr>
        </p:nvGraphicFramePr>
        <p:xfrm>
          <a:off x="535702" y="3429000"/>
          <a:ext cx="4950698" cy="2595880"/>
        </p:xfrm>
        <a:graphic>
          <a:graphicData uri="http://schemas.openxmlformats.org/drawingml/2006/table">
            <a:tbl>
              <a:tblPr firstRow="1" bandRow="1">
                <a:tableStyleId>{5C22544A-7EE6-4342-B048-85BDC9FD1C3A}</a:tableStyleId>
              </a:tblPr>
              <a:tblGrid>
                <a:gridCol w="2604304">
                  <a:extLst>
                    <a:ext uri="{9D8B030D-6E8A-4147-A177-3AD203B41FA5}">
                      <a16:colId xmlns:a16="http://schemas.microsoft.com/office/drawing/2014/main" val="1289272814"/>
                    </a:ext>
                  </a:extLst>
                </a:gridCol>
                <a:gridCol w="2346394">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1,5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705.3304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0.7299</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0.7217</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1.4167</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['0.3607', '0.3609']</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['0.4999', '0.5001']</a:t>
                      </a:r>
                      <a:endParaRPr lang="es-ES" dirty="0"/>
                    </a:p>
                  </a:txBody>
                  <a:tcPr/>
                </a:tc>
                <a:extLst>
                  <a:ext uri="{0D108BD9-81ED-4DB2-BD59-A6C34878D82A}">
                    <a16:rowId xmlns:a16="http://schemas.microsoft.com/office/drawing/2014/main" val="2435177504"/>
                  </a:ext>
                </a:extLst>
              </a:tr>
            </a:tbl>
          </a:graphicData>
        </a:graphic>
      </p:graphicFrame>
      <p:pic>
        <p:nvPicPr>
          <p:cNvPr id="6" name="Imagen 5">
            <a:extLst>
              <a:ext uri="{FF2B5EF4-FFF2-40B4-BE49-F238E27FC236}">
                <a16:creationId xmlns:a16="http://schemas.microsoft.com/office/drawing/2014/main" id="{4473277C-9272-1E38-B6F6-9E3BB886C85A}"/>
              </a:ext>
            </a:extLst>
          </p:cNvPr>
          <p:cNvPicPr>
            <a:picLocks noChangeAspect="1"/>
          </p:cNvPicPr>
          <p:nvPr/>
        </p:nvPicPr>
        <p:blipFill>
          <a:blip r:embed="rId5"/>
          <a:stretch>
            <a:fillRect/>
          </a:stretch>
        </p:blipFill>
        <p:spPr>
          <a:xfrm>
            <a:off x="5735504" y="1659638"/>
            <a:ext cx="6328861" cy="1007362"/>
          </a:xfrm>
          <a:prstGeom prst="rect">
            <a:avLst/>
          </a:prstGeom>
        </p:spPr>
      </p:pic>
      <p:pic>
        <p:nvPicPr>
          <p:cNvPr id="8" name="Imagen 7">
            <a:extLst>
              <a:ext uri="{FF2B5EF4-FFF2-40B4-BE49-F238E27FC236}">
                <a16:creationId xmlns:a16="http://schemas.microsoft.com/office/drawing/2014/main" id="{B6C29E90-9ACA-3576-C466-FD50063EDA95}"/>
              </a:ext>
            </a:extLst>
          </p:cNvPr>
          <p:cNvPicPr>
            <a:picLocks noChangeAspect="1"/>
          </p:cNvPicPr>
          <p:nvPr/>
        </p:nvPicPr>
        <p:blipFill>
          <a:blip r:embed="rId6"/>
          <a:stretch>
            <a:fillRect/>
          </a:stretch>
        </p:blipFill>
        <p:spPr>
          <a:xfrm>
            <a:off x="5743167" y="4277088"/>
            <a:ext cx="6398409" cy="1007362"/>
          </a:xfrm>
          <a:prstGeom prst="rect">
            <a:avLst/>
          </a:prstGeom>
        </p:spPr>
      </p:pic>
    </p:spTree>
    <p:extLst>
      <p:ext uri="{BB962C8B-B14F-4D97-AF65-F5344CB8AC3E}">
        <p14:creationId xmlns:p14="http://schemas.microsoft.com/office/powerpoint/2010/main" val="2774583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1A75A-8630-E3B7-AE89-C9060CBE07C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B15204-2C2D-077A-14CD-6755E12FA10A}"/>
              </a:ext>
            </a:extLst>
          </p:cNvPr>
          <p:cNvSpPr txBox="1">
            <a:spLocks noGrp="1"/>
          </p:cNvSpPr>
          <p:nvPr>
            <p:ph type="title"/>
          </p:nvPr>
        </p:nvSpPr>
        <p:spPr>
          <a:xfrm>
            <a:off x="228600" y="12462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B9FF372A-1CE0-17CD-B4B6-A349608D874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28DB006-55D4-539A-F227-E72FBD06460D}"/>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50FEC137-CD16-FEA1-4E83-412B74CC6B0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4" name="Tabla 3">
            <a:extLst>
              <a:ext uri="{FF2B5EF4-FFF2-40B4-BE49-F238E27FC236}">
                <a16:creationId xmlns:a16="http://schemas.microsoft.com/office/drawing/2014/main" id="{4BF2BE07-ECDC-7F29-FC52-4EB8DACD2164}"/>
              </a:ext>
            </a:extLst>
          </p:cNvPr>
          <p:cNvGraphicFramePr>
            <a:graphicFrameLocks noGrp="1"/>
          </p:cNvGraphicFramePr>
          <p:nvPr>
            <p:extLst>
              <p:ext uri="{D42A27DB-BD31-4B8C-83A1-F6EECF244321}">
                <p14:modId xmlns:p14="http://schemas.microsoft.com/office/powerpoint/2010/main" val="1139463255"/>
              </p:ext>
            </p:extLst>
          </p:nvPr>
        </p:nvGraphicFramePr>
        <p:xfrm>
          <a:off x="535702" y="609600"/>
          <a:ext cx="5026898" cy="2595880"/>
        </p:xfrm>
        <a:graphic>
          <a:graphicData uri="http://schemas.openxmlformats.org/drawingml/2006/table">
            <a:tbl>
              <a:tblPr firstRow="1" bandRow="1">
                <a:tableStyleId>{5C22544A-7EE6-4342-B048-85BDC9FD1C3A}</a:tableStyleId>
              </a:tblPr>
              <a:tblGrid>
                <a:gridCol w="2903235">
                  <a:extLst>
                    <a:ext uri="{9D8B030D-6E8A-4147-A177-3AD203B41FA5}">
                      <a16:colId xmlns:a16="http://schemas.microsoft.com/office/drawing/2014/main" val="1289272814"/>
                    </a:ext>
                  </a:extLst>
                </a:gridCol>
                <a:gridCol w="2123663">
                  <a:extLst>
                    <a:ext uri="{9D8B030D-6E8A-4147-A177-3AD203B41FA5}">
                      <a16:colId xmlns:a16="http://schemas.microsoft.com/office/drawing/2014/main" val="1462722498"/>
                    </a:ext>
                  </a:extLst>
                </a:gridCol>
              </a:tblGrid>
              <a:tr h="370840">
                <a:tc>
                  <a:txBody>
                    <a:bodyPr/>
                    <a:lstStyle/>
                    <a:p>
                      <a:r>
                        <a:rPr lang="es-ES" dirty="0" err="1"/>
                        <a:t>Parameters</a:t>
                      </a:r>
                      <a:r>
                        <a:rPr lang="es-ES" dirty="0"/>
                        <a:t>: </a:t>
                      </a:r>
                    </a:p>
                  </a:txBody>
                  <a:tcPr/>
                </a:tc>
                <a:tc>
                  <a:txBody>
                    <a:bodyPr/>
                    <a:lstStyle/>
                    <a:p>
                      <a:r>
                        <a:rPr lang="es-ES" dirty="0" err="1"/>
                        <a:t>Width</a:t>
                      </a:r>
                      <a:r>
                        <a:rPr lang="es-ES" dirty="0"/>
                        <a:t> = 1,6 </a:t>
                      </a:r>
                      <a:r>
                        <a:rPr lang="es-ES" dirty="0" err="1"/>
                        <a:t>um</a:t>
                      </a:r>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r>
                        <a:rPr lang="es-ES" dirty="0" err="1"/>
                        <a:t>L_pi</a:t>
                      </a:r>
                      <a:r>
                        <a:rPr lang="es-ES" dirty="0"/>
                        <a:t>/2)</a:t>
                      </a:r>
                    </a:p>
                  </a:txBody>
                  <a:tcPr/>
                </a:tc>
                <a:tc>
                  <a:txBody>
                    <a:bodyPr/>
                    <a:lstStyle/>
                    <a:p>
                      <a:r>
                        <a:rPr lang="es-ES" b="0" i="0" dirty="0">
                          <a:solidFill>
                            <a:schemeClr val="dk1"/>
                          </a:solidFill>
                          <a:effectLst/>
                          <a:latin typeface="+mn-lt"/>
                          <a:ea typeface="+mn-ea"/>
                          <a:cs typeface="+mn-cs"/>
                        </a:rPr>
                        <a:t>946.2337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0.6724</a:t>
                      </a:r>
                      <a:endParaRPr lang="es-ES" dirty="0"/>
                    </a:p>
                  </a:txBody>
                  <a:tcPr/>
                </a:tc>
                <a:extLst>
                  <a:ext uri="{0D108BD9-81ED-4DB2-BD59-A6C34878D82A}">
                    <a16:rowId xmlns:a16="http://schemas.microsoft.com/office/drawing/2014/main" val="366930300"/>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0.6648</a:t>
                      </a:r>
                      <a:endParaRPr lang="es-ES" dirty="0"/>
                    </a:p>
                  </a:txBody>
                  <a:tcPr/>
                </a:tc>
                <a:extLst>
                  <a:ext uri="{0D108BD9-81ED-4DB2-BD59-A6C34878D82A}">
                    <a16:rowId xmlns:a16="http://schemas.microsoft.com/office/drawing/2014/main" val="2450269684"/>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1.7729</a:t>
                      </a:r>
                      <a:endParaRPr lang="es-ES" dirty="0"/>
                    </a:p>
                  </a:txBody>
                  <a:tcPr/>
                </a:tc>
                <a:extLst>
                  <a:ext uri="{0D108BD9-81ED-4DB2-BD59-A6C34878D82A}">
                    <a16:rowId xmlns:a16="http://schemas.microsoft.com/office/drawing/2014/main" val="561426750"/>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['0.3327', '0.3321']</a:t>
                      </a:r>
                      <a:endParaRPr lang="es-ES" dirty="0"/>
                    </a:p>
                  </a:txBody>
                  <a:tcPr/>
                </a:tc>
                <a:extLst>
                  <a:ext uri="{0D108BD9-81ED-4DB2-BD59-A6C34878D82A}">
                    <a16:rowId xmlns:a16="http://schemas.microsoft.com/office/drawing/2014/main" val="2268606023"/>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['0.5004', '0.4996']</a:t>
                      </a:r>
                      <a:endParaRPr lang="es-ES" dirty="0"/>
                    </a:p>
                  </a:txBody>
                  <a:tcPr/>
                </a:tc>
                <a:extLst>
                  <a:ext uri="{0D108BD9-81ED-4DB2-BD59-A6C34878D82A}">
                    <a16:rowId xmlns:a16="http://schemas.microsoft.com/office/drawing/2014/main" val="2435177504"/>
                  </a:ext>
                </a:extLst>
              </a:tr>
            </a:tbl>
          </a:graphicData>
        </a:graphic>
      </p:graphicFrame>
      <p:pic>
        <p:nvPicPr>
          <p:cNvPr id="6" name="Imagen 5">
            <a:extLst>
              <a:ext uri="{FF2B5EF4-FFF2-40B4-BE49-F238E27FC236}">
                <a16:creationId xmlns:a16="http://schemas.microsoft.com/office/drawing/2014/main" id="{E4AE75E8-ED76-6884-068D-E9A63A43A9AD}"/>
              </a:ext>
            </a:extLst>
          </p:cNvPr>
          <p:cNvPicPr>
            <a:picLocks noChangeAspect="1"/>
          </p:cNvPicPr>
          <p:nvPr/>
        </p:nvPicPr>
        <p:blipFill>
          <a:blip r:embed="rId5"/>
          <a:stretch>
            <a:fillRect/>
          </a:stretch>
        </p:blipFill>
        <p:spPr>
          <a:xfrm>
            <a:off x="5606005" y="1371600"/>
            <a:ext cx="6531015" cy="1005641"/>
          </a:xfrm>
          <a:prstGeom prst="rect">
            <a:avLst/>
          </a:prstGeom>
        </p:spPr>
      </p:pic>
      <p:sp>
        <p:nvSpPr>
          <p:cNvPr id="8" name="CuadroTexto 7">
            <a:extLst>
              <a:ext uri="{FF2B5EF4-FFF2-40B4-BE49-F238E27FC236}">
                <a16:creationId xmlns:a16="http://schemas.microsoft.com/office/drawing/2014/main" id="{2DC5FDC2-2DE7-CD9B-93BC-195DBC463CCF}"/>
              </a:ext>
            </a:extLst>
          </p:cNvPr>
          <p:cNvSpPr txBox="1"/>
          <p:nvPr/>
        </p:nvSpPr>
        <p:spPr>
          <a:xfrm>
            <a:off x="1600200" y="4128611"/>
            <a:ext cx="8763000" cy="1077218"/>
          </a:xfrm>
          <a:prstGeom prst="rect">
            <a:avLst/>
          </a:prstGeom>
          <a:noFill/>
        </p:spPr>
        <p:txBody>
          <a:bodyPr wrap="square">
            <a:spAutoFit/>
          </a:bodyPr>
          <a:lstStyle/>
          <a:p>
            <a:pPr algn="just"/>
            <a:r>
              <a:rPr lang="en-US" sz="1600" dirty="0"/>
              <a:t>The results confirm the expected behavior of the 2×2 directional coupler as the waveguide width varies. Since the device length is set to half of the beat length, the structure consistently operates as a 3 dB splitter. The output ratios remain very close to 0.5/0.5 in all cases, confirming accurate and stable power division. The variation of other parameters with width will be discussed in the following slide. </a:t>
            </a:r>
            <a:endParaRPr lang="es-ES" sz="1600" dirty="0"/>
          </a:p>
        </p:txBody>
      </p:sp>
    </p:spTree>
    <p:extLst>
      <p:ext uri="{BB962C8B-B14F-4D97-AF65-F5344CB8AC3E}">
        <p14:creationId xmlns:p14="http://schemas.microsoft.com/office/powerpoint/2010/main" val="288600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5B514-36D7-6C41-3AC8-C59682255EA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9F0A656-C908-F768-56F7-247D78FCBB38}"/>
              </a:ext>
            </a:extLst>
          </p:cNvPr>
          <p:cNvSpPr txBox="1">
            <a:spLocks noGrp="1"/>
          </p:cNvSpPr>
          <p:nvPr>
            <p:ph type="title"/>
          </p:nvPr>
        </p:nvSpPr>
        <p:spPr>
          <a:xfrm>
            <a:off x="228600" y="12462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4874CFFB-CC85-777E-352E-FD7C176C0E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CB7B9D5-5C5C-DF05-184D-164F2E644E5C}"/>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8809DFAD-3741-950B-421D-CEE1C4C8F6E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CuadroTexto 4">
            <a:extLst>
              <a:ext uri="{FF2B5EF4-FFF2-40B4-BE49-F238E27FC236}">
                <a16:creationId xmlns:a16="http://schemas.microsoft.com/office/drawing/2014/main" id="{DAAF3924-227A-EBD8-025C-8A10338D9A1C}"/>
              </a:ext>
            </a:extLst>
          </p:cNvPr>
          <p:cNvSpPr txBox="1"/>
          <p:nvPr/>
        </p:nvSpPr>
        <p:spPr>
          <a:xfrm>
            <a:off x="1166912" y="1874728"/>
            <a:ext cx="10072495" cy="3108543"/>
          </a:xfrm>
          <a:prstGeom prst="rect">
            <a:avLst/>
          </a:prstGeom>
          <a:noFill/>
        </p:spPr>
        <p:txBody>
          <a:bodyPr wrap="square">
            <a:spAutoFit/>
          </a:bodyPr>
          <a:lstStyle/>
          <a:p>
            <a:pPr algn="just"/>
            <a:r>
              <a:rPr lang="en-US" sz="1600" dirty="0"/>
              <a:t>The simulations also show that the length required to achieve equal power splitting increases strongly with waveguide width, from about 47 µm at 0.6 µm to 946 um at 1.6 um. This means that the beat length becomes progressively larger, and therefore the coupler must be longer to preserve the same splitting condition.</a:t>
            </a:r>
          </a:p>
          <a:p>
            <a:pPr algn="just"/>
            <a:endParaRPr lang="en-US" sz="1600" dirty="0"/>
          </a:p>
          <a:p>
            <a:pPr algn="just"/>
            <a:r>
              <a:rPr lang="en-US" sz="1600" dirty="0"/>
              <a:t>The loss results reveal an optimum around 0.8 um, where the excess loss is minimum, about 0.097 dB, and the transmitted power is highest. For larger widths, the device becomes much longer, and the accumulated losses increase, reducing the output power. </a:t>
            </a:r>
          </a:p>
          <a:p>
            <a:pPr algn="just"/>
            <a:endParaRPr lang="en-US" sz="1600" dirty="0"/>
          </a:p>
          <a:p>
            <a:pPr algn="just"/>
            <a:r>
              <a:rPr lang="en-US" sz="1600" dirty="0"/>
              <a:t>Overall, widths around 0.7–0.9 µm, especially 0.8 µm, provide the best balance between compactness, low loss, and balanced power splitting.</a:t>
            </a:r>
          </a:p>
          <a:p>
            <a:pPr algn="just"/>
            <a:endParaRPr lang="en-US" sz="1600" dirty="0"/>
          </a:p>
          <a:p>
            <a:pPr algn="just"/>
            <a:endParaRPr lang="es-ES" sz="1600" dirty="0"/>
          </a:p>
        </p:txBody>
      </p:sp>
    </p:spTree>
    <p:extLst>
      <p:ext uri="{BB962C8B-B14F-4D97-AF65-F5344CB8AC3E}">
        <p14:creationId xmlns:p14="http://schemas.microsoft.com/office/powerpoint/2010/main" val="1608287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460171" y="75697"/>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CuadroTexto 6">
            <a:extLst>
              <a:ext uri="{FF2B5EF4-FFF2-40B4-BE49-F238E27FC236}">
                <a16:creationId xmlns:a16="http://schemas.microsoft.com/office/drawing/2014/main" id="{A275A631-C431-796C-CBCE-E0690BD4BB84}"/>
              </a:ext>
            </a:extLst>
          </p:cNvPr>
          <p:cNvSpPr txBox="1"/>
          <p:nvPr/>
        </p:nvSpPr>
        <p:spPr>
          <a:xfrm>
            <a:off x="5801508" y="1105332"/>
            <a:ext cx="5856595" cy="4832092"/>
          </a:xfrm>
          <a:prstGeom prst="rect">
            <a:avLst/>
          </a:prstGeom>
          <a:noFill/>
        </p:spPr>
        <p:txBody>
          <a:bodyPr wrap="square">
            <a:spAutoFit/>
          </a:bodyPr>
          <a:lstStyle/>
          <a:p>
            <a:pPr algn="just"/>
            <a:r>
              <a:rPr lang="en-US" sz="1400" dirty="0"/>
              <a:t>The first plot shows two clearly different regimes. For small gaps, the coupling exhibits the expected oscillatory behavior of the full expression for K at fixed propagation length. In this region, the beat length is small, so the sine-squared dependence remains visible. As the gap increases, the beat length becomes much larger and the coupler progressively enters the weak-coupling regime, where K decreases smoothly toward the design limit. </a:t>
            </a:r>
          </a:p>
          <a:p>
            <a:pPr algn="just"/>
            <a:endParaRPr lang="en-US" sz="1400" dirty="0"/>
          </a:p>
          <a:p>
            <a:pPr algn="just"/>
            <a:r>
              <a:rPr lang="en-US" sz="1400" dirty="0"/>
              <a:t>It must be taken into account that at the oscillatory region we could find some local minima that fall below the design threshold. However, relying on those minima would be problematic because small fabrication variations in the gap would easily shift the operating point to a nearby maximum, leading to significant coupling again.</a:t>
            </a:r>
          </a:p>
          <a:p>
            <a:pPr algn="just"/>
            <a:endParaRPr lang="en-US" sz="1400" dirty="0"/>
          </a:p>
          <a:p>
            <a:pPr algn="just"/>
            <a:r>
              <a:rPr lang="en-US" sz="1400" dirty="0"/>
              <a:t>This first sweep is therefore useful to identify the transition region and to localize the gap interval where the uncoupled condition is reached. A second, finer sweep is then carried out around that point in order to determine the minimum design gap more accurately. From this refinement, the minimum gap satisfying K ≤ 0.01 is found to be approximately 3.54 µm.</a:t>
            </a:r>
          </a:p>
          <a:p>
            <a:pPr algn="just"/>
            <a:endParaRPr lang="en-US" sz="1400" dirty="0"/>
          </a:p>
          <a:p>
            <a:pPr algn="just"/>
            <a:r>
              <a:rPr lang="en-US" sz="1400" dirty="0"/>
              <a:t>The result is also consistent with the theoretical estimate. The target beat length obtained analytically is 156817.09 µm, while the simulated value at the selected gap is 160745.90 µm.  </a:t>
            </a:r>
            <a:endParaRPr lang="es-ES" sz="1400" dirty="0"/>
          </a:p>
        </p:txBody>
      </p:sp>
      <p:pic>
        <p:nvPicPr>
          <p:cNvPr id="11" name="Imagen 10">
            <a:extLst>
              <a:ext uri="{FF2B5EF4-FFF2-40B4-BE49-F238E27FC236}">
                <a16:creationId xmlns:a16="http://schemas.microsoft.com/office/drawing/2014/main" id="{DD4F4AD5-0018-1AEB-2005-314128E02370}"/>
              </a:ext>
            </a:extLst>
          </p:cNvPr>
          <p:cNvPicPr>
            <a:picLocks noChangeAspect="1"/>
          </p:cNvPicPr>
          <p:nvPr/>
        </p:nvPicPr>
        <p:blipFill>
          <a:blip r:embed="rId5"/>
          <a:stretch>
            <a:fillRect/>
          </a:stretch>
        </p:blipFill>
        <p:spPr>
          <a:xfrm>
            <a:off x="914400" y="469675"/>
            <a:ext cx="4648200" cy="3138871"/>
          </a:xfrm>
          <a:prstGeom prst="rect">
            <a:avLst/>
          </a:prstGeom>
        </p:spPr>
      </p:pic>
      <p:pic>
        <p:nvPicPr>
          <p:cNvPr id="13" name="Imagen 12">
            <a:extLst>
              <a:ext uri="{FF2B5EF4-FFF2-40B4-BE49-F238E27FC236}">
                <a16:creationId xmlns:a16="http://schemas.microsoft.com/office/drawing/2014/main" id="{7DACBF7C-23FA-53B1-EDA8-DE7328138934}"/>
              </a:ext>
            </a:extLst>
          </p:cNvPr>
          <p:cNvPicPr>
            <a:picLocks noChangeAspect="1"/>
          </p:cNvPicPr>
          <p:nvPr/>
        </p:nvPicPr>
        <p:blipFill>
          <a:blip r:embed="rId6"/>
          <a:stretch>
            <a:fillRect/>
          </a:stretch>
        </p:blipFill>
        <p:spPr>
          <a:xfrm>
            <a:off x="675492" y="3521378"/>
            <a:ext cx="4878427" cy="3197853"/>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152400" y="45281"/>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5" name="Imagen 4">
            <a:extLst>
              <a:ext uri="{FF2B5EF4-FFF2-40B4-BE49-F238E27FC236}">
                <a16:creationId xmlns:a16="http://schemas.microsoft.com/office/drawing/2014/main" id="{E2A99EFC-E5CA-590E-2B52-FD574C14E411}"/>
              </a:ext>
            </a:extLst>
          </p:cNvPr>
          <p:cNvPicPr>
            <a:picLocks noChangeAspect="1"/>
          </p:cNvPicPr>
          <p:nvPr/>
        </p:nvPicPr>
        <p:blipFill>
          <a:blip r:embed="rId5"/>
          <a:stretch>
            <a:fillRect/>
          </a:stretch>
        </p:blipFill>
        <p:spPr>
          <a:xfrm>
            <a:off x="139861" y="571306"/>
            <a:ext cx="5381625" cy="2219325"/>
          </a:xfrm>
          <a:prstGeom prst="rect">
            <a:avLst/>
          </a:prstGeom>
        </p:spPr>
      </p:pic>
      <p:graphicFrame>
        <p:nvGraphicFramePr>
          <p:cNvPr id="4" name="Tabla 3">
            <a:extLst>
              <a:ext uri="{FF2B5EF4-FFF2-40B4-BE49-F238E27FC236}">
                <a16:creationId xmlns:a16="http://schemas.microsoft.com/office/drawing/2014/main" id="{54B5B690-12AB-62FF-518F-AEB4744DC958}"/>
              </a:ext>
            </a:extLst>
          </p:cNvPr>
          <p:cNvGraphicFramePr>
            <a:graphicFrameLocks noGrp="1"/>
          </p:cNvGraphicFramePr>
          <p:nvPr>
            <p:extLst>
              <p:ext uri="{D42A27DB-BD31-4B8C-83A1-F6EECF244321}">
                <p14:modId xmlns:p14="http://schemas.microsoft.com/office/powerpoint/2010/main" val="2434080042"/>
              </p:ext>
            </p:extLst>
          </p:nvPr>
        </p:nvGraphicFramePr>
        <p:xfrm>
          <a:off x="501932" y="2822684"/>
          <a:ext cx="5029200" cy="3703320"/>
        </p:xfrm>
        <a:graphic>
          <a:graphicData uri="http://schemas.openxmlformats.org/drawingml/2006/table">
            <a:tbl>
              <a:tblPr firstRow="1" bandRow="1">
                <a:tableStyleId>{5C22544A-7EE6-4342-B048-85BDC9FD1C3A}</a:tableStyleId>
              </a:tblPr>
              <a:tblGrid>
                <a:gridCol w="2905537">
                  <a:extLst>
                    <a:ext uri="{9D8B030D-6E8A-4147-A177-3AD203B41FA5}">
                      <a16:colId xmlns:a16="http://schemas.microsoft.com/office/drawing/2014/main" val="1289272814"/>
                    </a:ext>
                  </a:extLst>
                </a:gridCol>
                <a:gridCol w="2123663">
                  <a:extLst>
                    <a:ext uri="{9D8B030D-6E8A-4147-A177-3AD203B41FA5}">
                      <a16:colId xmlns:a16="http://schemas.microsoft.com/office/drawing/2014/main" val="1462722498"/>
                    </a:ext>
                  </a:extLst>
                </a:gridCol>
              </a:tblGrid>
              <a:tr h="142240">
                <a:tc>
                  <a:txBody>
                    <a:bodyPr/>
                    <a:lstStyle/>
                    <a:p>
                      <a:r>
                        <a:rPr lang="es-ES" dirty="0" err="1"/>
                        <a:t>Parameters</a:t>
                      </a:r>
                      <a:r>
                        <a:rPr lang="es-ES" dirty="0"/>
                        <a:t>: </a:t>
                      </a:r>
                    </a:p>
                  </a:txBody>
                  <a:tcPr/>
                </a:tc>
                <a:tc>
                  <a:txBody>
                    <a:bodyPr/>
                    <a:lstStyle/>
                    <a:p>
                      <a:endParaRPr lang="es-ES" dirty="0"/>
                    </a:p>
                  </a:txBody>
                  <a:tcPr/>
                </a:tc>
                <a:extLst>
                  <a:ext uri="{0D108BD9-81ED-4DB2-BD59-A6C34878D82A}">
                    <a16:rowId xmlns:a16="http://schemas.microsoft.com/office/drawing/2014/main" val="1051660796"/>
                  </a:ext>
                </a:extLst>
              </a:tr>
              <a:tr h="370840">
                <a:tc>
                  <a:txBody>
                    <a:bodyPr/>
                    <a:lstStyle/>
                    <a:p>
                      <a:r>
                        <a:rPr lang="es-ES" dirty="0"/>
                        <a:t>MMI </a:t>
                      </a:r>
                      <a:r>
                        <a:rPr lang="es-ES" dirty="0" err="1"/>
                        <a:t>length</a:t>
                      </a:r>
                      <a:r>
                        <a:rPr lang="es-ES" dirty="0"/>
                        <a:t> </a:t>
                      </a:r>
                    </a:p>
                  </a:txBody>
                  <a:tcPr/>
                </a:tc>
                <a:tc>
                  <a:txBody>
                    <a:bodyPr/>
                    <a:lstStyle/>
                    <a:p>
                      <a:r>
                        <a:rPr lang="es-ES" b="0" i="0" dirty="0">
                          <a:solidFill>
                            <a:schemeClr val="dk1"/>
                          </a:solidFill>
                          <a:effectLst/>
                          <a:latin typeface="+mn-lt"/>
                          <a:ea typeface="+mn-ea"/>
                          <a:cs typeface="+mn-cs"/>
                        </a:rPr>
                        <a:t>34,548 </a:t>
                      </a:r>
                      <a:r>
                        <a:rPr lang="es-ES" b="0" i="0" dirty="0" err="1">
                          <a:solidFill>
                            <a:schemeClr val="dk1"/>
                          </a:solidFill>
                          <a:effectLst/>
                          <a:latin typeface="+mn-lt"/>
                          <a:ea typeface="+mn-ea"/>
                          <a:cs typeface="+mn-cs"/>
                        </a:rPr>
                        <a:t>um</a:t>
                      </a:r>
                      <a:endParaRPr lang="es-ES" dirty="0"/>
                    </a:p>
                  </a:txBody>
                  <a:tcPr/>
                </a:tc>
                <a:extLst>
                  <a:ext uri="{0D108BD9-81ED-4DB2-BD59-A6C34878D82A}">
                    <a16:rowId xmlns:a16="http://schemas.microsoft.com/office/drawing/2014/main" val="1035157036"/>
                  </a:ext>
                </a:extLst>
              </a:tr>
              <a:tr h="370840">
                <a:tc>
                  <a:txBody>
                    <a:bodyPr/>
                    <a:lstStyle/>
                    <a:p>
                      <a:r>
                        <a:rPr lang="es-ES" dirty="0"/>
                        <a:t>MMI </a:t>
                      </a:r>
                      <a:r>
                        <a:rPr lang="es-ES" dirty="0" err="1"/>
                        <a:t>length</a:t>
                      </a:r>
                      <a:r>
                        <a:rPr lang="es-ES" dirty="0"/>
                        <a:t> </a:t>
                      </a:r>
                      <a:r>
                        <a:rPr lang="es-ES" dirty="0" err="1"/>
                        <a:t>increment</a:t>
                      </a:r>
                      <a:endParaRPr lang="es-ES" dirty="0"/>
                    </a:p>
                  </a:txBody>
                  <a:tcPr/>
                </a:tc>
                <a:tc>
                  <a:txBody>
                    <a:bodyPr/>
                    <a:lstStyle/>
                    <a:p>
                      <a:r>
                        <a:rPr lang="es-ES" dirty="0"/>
                        <a:t>0</a:t>
                      </a:r>
                    </a:p>
                  </a:txBody>
                  <a:tcPr/>
                </a:tc>
                <a:extLst>
                  <a:ext uri="{0D108BD9-81ED-4DB2-BD59-A6C34878D82A}">
                    <a16:rowId xmlns:a16="http://schemas.microsoft.com/office/drawing/2014/main" val="952336144"/>
                  </a:ext>
                </a:extLst>
              </a:tr>
              <a:tr h="370840">
                <a:tc>
                  <a:txBody>
                    <a:bodyPr/>
                    <a:lstStyle/>
                    <a:p>
                      <a:r>
                        <a:rPr lang="es-ES" dirty="0"/>
                        <a:t>IO </a:t>
                      </a:r>
                      <a:r>
                        <a:rPr lang="es-ES" dirty="0" err="1"/>
                        <a:t>wg</a:t>
                      </a:r>
                      <a:r>
                        <a:rPr lang="es-ES" dirty="0"/>
                        <a:t> </a:t>
                      </a:r>
                      <a:r>
                        <a:rPr lang="es-ES" dirty="0" err="1"/>
                        <a:t>width</a:t>
                      </a:r>
                      <a:endParaRPr lang="es-ES" dirty="0"/>
                    </a:p>
                  </a:txBody>
                  <a:tcPr/>
                </a:tc>
                <a:tc>
                  <a:txBody>
                    <a:bodyPr/>
                    <a:lstStyle/>
                    <a:p>
                      <a:r>
                        <a:rPr lang="es-ES" dirty="0"/>
                        <a:t>1</a:t>
                      </a:r>
                    </a:p>
                  </a:txBody>
                  <a:tcPr/>
                </a:tc>
                <a:extLst>
                  <a:ext uri="{0D108BD9-81ED-4DB2-BD59-A6C34878D82A}">
                    <a16:rowId xmlns:a16="http://schemas.microsoft.com/office/drawing/2014/main" val="3217308764"/>
                  </a:ext>
                </a:extLst>
              </a:tr>
              <a:tr h="370840">
                <a:tc>
                  <a:txBody>
                    <a:bodyPr/>
                    <a:lstStyle/>
                    <a:p>
                      <a:r>
                        <a:rPr lang="es-ES" dirty="0"/>
                        <a:t>IO </a:t>
                      </a:r>
                      <a:r>
                        <a:rPr lang="es-ES" dirty="0" err="1"/>
                        <a:t>wg</a:t>
                      </a:r>
                      <a:r>
                        <a:rPr lang="es-ES" dirty="0"/>
                        <a:t> </a:t>
                      </a:r>
                      <a:r>
                        <a:rPr lang="es-ES" dirty="0" err="1"/>
                        <a:t>width</a:t>
                      </a:r>
                      <a:r>
                        <a:rPr lang="es-ES" dirty="0"/>
                        <a:t> </a:t>
                      </a:r>
                      <a:r>
                        <a:rPr lang="es-ES" dirty="0" err="1"/>
                        <a:t>increment</a:t>
                      </a:r>
                      <a:endParaRPr lang="es-ES" dirty="0"/>
                    </a:p>
                  </a:txBody>
                  <a:tcPr/>
                </a:tc>
                <a:tc>
                  <a:txBody>
                    <a:bodyPr/>
                    <a:lstStyle/>
                    <a:p>
                      <a:r>
                        <a:rPr lang="es-ES" dirty="0"/>
                        <a:t>0</a:t>
                      </a:r>
                    </a:p>
                  </a:txBody>
                  <a:tcPr/>
                </a:tc>
                <a:extLst>
                  <a:ext uri="{0D108BD9-81ED-4DB2-BD59-A6C34878D82A}">
                    <a16:rowId xmlns:a16="http://schemas.microsoft.com/office/drawing/2014/main" val="3457329804"/>
                  </a:ext>
                </a:extLst>
              </a:tr>
              <a:tr h="370840">
                <a:tc>
                  <a:txBody>
                    <a:bodyPr/>
                    <a:lstStyle/>
                    <a:p>
                      <a:r>
                        <a:rPr lang="es-ES" dirty="0"/>
                        <a:t>Total </a:t>
                      </a:r>
                      <a:r>
                        <a:rPr lang="es-ES" dirty="0" err="1"/>
                        <a:t>power</a:t>
                      </a:r>
                      <a:r>
                        <a:rPr lang="es-ES" dirty="0"/>
                        <a:t> IN </a:t>
                      </a:r>
                      <a:r>
                        <a:rPr lang="es-ES" dirty="0" err="1"/>
                        <a:t>coupled</a:t>
                      </a:r>
                      <a:endParaRPr lang="es-ES" dirty="0"/>
                    </a:p>
                  </a:txBody>
                  <a:tcPr/>
                </a:tc>
                <a:tc>
                  <a:txBody>
                    <a:bodyPr/>
                    <a:lstStyle/>
                    <a:p>
                      <a:r>
                        <a:rPr lang="es-ES" b="0" i="0" dirty="0">
                          <a:solidFill>
                            <a:schemeClr val="dk1"/>
                          </a:solidFill>
                          <a:effectLst/>
                          <a:latin typeface="+mn-lt"/>
                          <a:ea typeface="+mn-ea"/>
                          <a:cs typeface="+mn-cs"/>
                        </a:rPr>
                        <a:t>0.9604</a:t>
                      </a:r>
                      <a:endParaRPr lang="es-ES" dirty="0"/>
                    </a:p>
                  </a:txBody>
                  <a:tcPr/>
                </a:tc>
                <a:extLst>
                  <a:ext uri="{0D108BD9-81ED-4DB2-BD59-A6C34878D82A}">
                    <a16:rowId xmlns:a16="http://schemas.microsoft.com/office/drawing/2014/main" val="1566769035"/>
                  </a:ext>
                </a:extLst>
              </a:tr>
              <a:tr h="370840">
                <a:tc>
                  <a:txBody>
                    <a:bodyPr/>
                    <a:lstStyle/>
                    <a:p>
                      <a:r>
                        <a:rPr lang="es-ES" dirty="0"/>
                        <a:t>Total OUT </a:t>
                      </a:r>
                      <a:r>
                        <a:rPr lang="es-ES" dirty="0" err="1"/>
                        <a:t>power</a:t>
                      </a:r>
                      <a:endParaRPr lang="es-ES" dirty="0"/>
                    </a:p>
                  </a:txBody>
                  <a:tcPr/>
                </a:tc>
                <a:tc>
                  <a:txBody>
                    <a:bodyPr/>
                    <a:lstStyle/>
                    <a:p>
                      <a:r>
                        <a:rPr lang="es-ES" b="0" i="0" dirty="0">
                          <a:solidFill>
                            <a:schemeClr val="dk1"/>
                          </a:solidFill>
                          <a:effectLst/>
                          <a:latin typeface="+mn-lt"/>
                          <a:ea typeface="+mn-ea"/>
                          <a:cs typeface="+mn-cs"/>
                        </a:rPr>
                        <a:t>0.9075</a:t>
                      </a:r>
                      <a:endParaRPr lang="es-ES" dirty="0"/>
                    </a:p>
                  </a:txBody>
                  <a:tcPr/>
                </a:tc>
                <a:extLst>
                  <a:ext uri="{0D108BD9-81ED-4DB2-BD59-A6C34878D82A}">
                    <a16:rowId xmlns:a16="http://schemas.microsoft.com/office/drawing/2014/main" val="1195586971"/>
                  </a:ext>
                </a:extLst>
              </a:tr>
              <a:tr h="370840">
                <a:tc>
                  <a:txBody>
                    <a:bodyPr/>
                    <a:lstStyle/>
                    <a:p>
                      <a:r>
                        <a:rPr lang="es-ES" dirty="0" err="1"/>
                        <a:t>Excess</a:t>
                      </a:r>
                      <a:r>
                        <a:rPr lang="es-ES" dirty="0"/>
                        <a:t> </a:t>
                      </a:r>
                      <a:r>
                        <a:rPr lang="es-ES" dirty="0" err="1"/>
                        <a:t>loss</a:t>
                      </a:r>
                      <a:r>
                        <a:rPr lang="es-ES" dirty="0"/>
                        <a:t> [dB]</a:t>
                      </a:r>
                    </a:p>
                  </a:txBody>
                  <a:tcPr/>
                </a:tc>
                <a:tc>
                  <a:txBody>
                    <a:bodyPr/>
                    <a:lstStyle/>
                    <a:p>
                      <a:r>
                        <a:rPr lang="es-ES" b="0" i="0" dirty="0">
                          <a:solidFill>
                            <a:schemeClr val="dk1"/>
                          </a:solidFill>
                          <a:effectLst/>
                          <a:latin typeface="+mn-lt"/>
                          <a:ea typeface="+mn-ea"/>
                          <a:cs typeface="+mn-cs"/>
                        </a:rPr>
                        <a:t>0.4217</a:t>
                      </a:r>
                      <a:endParaRPr lang="es-ES" dirty="0"/>
                    </a:p>
                  </a:txBody>
                  <a:tcPr/>
                </a:tc>
                <a:extLst>
                  <a:ext uri="{0D108BD9-81ED-4DB2-BD59-A6C34878D82A}">
                    <a16:rowId xmlns:a16="http://schemas.microsoft.com/office/drawing/2014/main" val="3039394333"/>
                  </a:ext>
                </a:extLst>
              </a:tr>
              <a:tr h="370840">
                <a:tc>
                  <a:txBody>
                    <a:bodyPr/>
                    <a:lstStyle/>
                    <a:p>
                      <a:r>
                        <a:rPr lang="es-ES" dirty="0" err="1"/>
                        <a:t>Power</a:t>
                      </a:r>
                      <a:r>
                        <a:rPr lang="es-ES" dirty="0"/>
                        <a:t>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['0.4675', '0.4399']</a:t>
                      </a:r>
                      <a:endParaRPr lang="es-ES" dirty="0"/>
                    </a:p>
                  </a:txBody>
                  <a:tcPr/>
                </a:tc>
                <a:extLst>
                  <a:ext uri="{0D108BD9-81ED-4DB2-BD59-A6C34878D82A}">
                    <a16:rowId xmlns:a16="http://schemas.microsoft.com/office/drawing/2014/main" val="3378388858"/>
                  </a:ext>
                </a:extLst>
              </a:tr>
              <a:tr h="370840">
                <a:tc>
                  <a:txBody>
                    <a:bodyPr/>
                    <a:lstStyle/>
                    <a:p>
                      <a:r>
                        <a:rPr lang="es-ES" dirty="0"/>
                        <a:t>Ratio </a:t>
                      </a:r>
                      <a:r>
                        <a:rPr lang="es-ES" dirty="0" err="1"/>
                        <a:t>over</a:t>
                      </a:r>
                      <a:r>
                        <a:rPr lang="es-ES" dirty="0"/>
                        <a:t> outputs</a:t>
                      </a:r>
                    </a:p>
                  </a:txBody>
                  <a:tcPr/>
                </a:tc>
                <a:tc>
                  <a:txBody>
                    <a:bodyPr/>
                    <a:lstStyle/>
                    <a:p>
                      <a:r>
                        <a:rPr lang="es-ES" b="0" i="0" dirty="0">
                          <a:solidFill>
                            <a:schemeClr val="dk1"/>
                          </a:solidFill>
                          <a:effectLst/>
                          <a:latin typeface="+mn-lt"/>
                          <a:ea typeface="+mn-ea"/>
                          <a:cs typeface="+mn-cs"/>
                        </a:rPr>
                        <a:t>['0.4675', '0.4399']</a:t>
                      </a:r>
                      <a:endParaRPr lang="es-ES" dirty="0"/>
                    </a:p>
                  </a:txBody>
                  <a:tcPr/>
                </a:tc>
                <a:extLst>
                  <a:ext uri="{0D108BD9-81ED-4DB2-BD59-A6C34878D82A}">
                    <a16:rowId xmlns:a16="http://schemas.microsoft.com/office/drawing/2014/main" val="1409907929"/>
                  </a:ext>
                </a:extLst>
              </a:tr>
            </a:tbl>
          </a:graphicData>
        </a:graphic>
      </p:graphicFrame>
      <p:sp>
        <p:nvSpPr>
          <p:cNvPr id="11" name="CuadroTexto 10">
            <a:extLst>
              <a:ext uri="{FF2B5EF4-FFF2-40B4-BE49-F238E27FC236}">
                <a16:creationId xmlns:a16="http://schemas.microsoft.com/office/drawing/2014/main" id="{E0D31C4D-488A-D794-AB6C-E92704C9EF91}"/>
              </a:ext>
            </a:extLst>
          </p:cNvPr>
          <p:cNvSpPr txBox="1"/>
          <p:nvPr/>
        </p:nvSpPr>
        <p:spPr>
          <a:xfrm>
            <a:off x="5791200" y="909917"/>
            <a:ext cx="6260939" cy="5262979"/>
          </a:xfrm>
          <a:prstGeom prst="rect">
            <a:avLst/>
          </a:prstGeom>
          <a:noFill/>
        </p:spPr>
        <p:txBody>
          <a:bodyPr wrap="square">
            <a:spAutoFit/>
          </a:bodyPr>
          <a:lstStyle/>
          <a:p>
            <a:pPr algn="just">
              <a:buNone/>
            </a:pPr>
            <a:r>
              <a:rPr lang="en-US" sz="1600" dirty="0"/>
              <a:t>The MMI operates close to the expected 3 dB splitting condition. The output powers are approximately 0.467 and 0.440, which indicates an almost balanced 50:50 power division. </a:t>
            </a:r>
          </a:p>
          <a:p>
            <a:pPr algn="just">
              <a:buNone/>
            </a:pPr>
            <a:endParaRPr lang="en-US" sz="1600" dirty="0"/>
          </a:p>
          <a:p>
            <a:pPr algn="just">
              <a:buNone/>
            </a:pPr>
            <a:r>
              <a:rPr lang="en-US" sz="1600" dirty="0"/>
              <a:t>The simulated device length is about 34.5 µm, which corresponds approximately to </a:t>
            </a:r>
            <a:r>
              <a:rPr lang="en-US" sz="1600" dirty="0" err="1"/>
              <a:t>Lpi</a:t>
            </a:r>
            <a:r>
              <a:rPr lang="en-US" sz="1600" dirty="0"/>
              <a:t>/2, with </a:t>
            </a:r>
            <a:r>
              <a:rPr lang="en-US" sz="1600" dirty="0" err="1"/>
              <a:t>Lpi</a:t>
            </a:r>
            <a:r>
              <a:rPr lang="en-US" sz="1600" dirty="0"/>
              <a:t> around 69 µm. This agrees with the self-imaging principle of multimode interference, where two symmetric images of the input field appear at roughly half the beat length.</a:t>
            </a:r>
          </a:p>
          <a:p>
            <a:pPr algn="just">
              <a:buNone/>
            </a:pPr>
            <a:endParaRPr lang="en-US" sz="1600" dirty="0"/>
          </a:p>
          <a:p>
            <a:pPr algn="just">
              <a:buNone/>
            </a:pPr>
            <a:r>
              <a:rPr lang="en-US" sz="1600" dirty="0"/>
              <a:t>The coupled input power is about 0.96 while the total output power is around 0.907, giving an excess loss of about 0.42 </a:t>
            </a:r>
            <a:r>
              <a:rPr lang="en-US" sz="1600" dirty="0" err="1"/>
              <a:t>dB.</a:t>
            </a:r>
            <a:r>
              <a:rPr lang="en-US" sz="1600" dirty="0"/>
              <a:t> These losses are too large if we think of a chip where we would have many MMI’s concatenated for a given application, since losses would grow extremely fast. </a:t>
            </a:r>
          </a:p>
          <a:p>
            <a:pPr algn="just">
              <a:buNone/>
            </a:pPr>
            <a:endParaRPr lang="en-US" sz="1600" dirty="0"/>
          </a:p>
          <a:p>
            <a:pPr algn="just">
              <a:buNone/>
            </a:pPr>
            <a:r>
              <a:rPr lang="en-US" sz="1600" dirty="0"/>
              <a:t>Compared with a directional coupler, which transfers energy through evanescent coupling, the MMI relies on multimode interference inside a widened region. This mechanism allows similar power splitting with a compact device and generally provides better tolerance to fabrication variations since it does not depend on maintaining a very precise gap along the structure.</a:t>
            </a:r>
          </a:p>
        </p:txBody>
      </p:sp>
    </p:spTree>
    <p:extLst>
      <p:ext uri="{BB962C8B-B14F-4D97-AF65-F5344CB8AC3E}">
        <p14:creationId xmlns:p14="http://schemas.microsoft.com/office/powerpoint/2010/main" val="2815679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787C4-43C9-5044-7C58-419800F307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20D93C6-8284-22AD-C4AF-E87BA02CF191}"/>
              </a:ext>
            </a:extLst>
          </p:cNvPr>
          <p:cNvSpPr txBox="1">
            <a:spLocks noGrp="1"/>
          </p:cNvSpPr>
          <p:nvPr>
            <p:ph type="title"/>
          </p:nvPr>
        </p:nvSpPr>
        <p:spPr>
          <a:xfrm>
            <a:off x="152400" y="45281"/>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endParaRPr lang="en-US" sz="2500" b="0" dirty="0">
              <a:latin typeface="+mj-lt"/>
              <a:cs typeface="Lucida Sans"/>
            </a:endParaRPr>
          </a:p>
        </p:txBody>
      </p:sp>
      <p:pic>
        <p:nvPicPr>
          <p:cNvPr id="83" name="Gráfico 82">
            <a:extLst>
              <a:ext uri="{FF2B5EF4-FFF2-40B4-BE49-F238E27FC236}">
                <a16:creationId xmlns:a16="http://schemas.microsoft.com/office/drawing/2014/main" id="{3148C8D5-17A7-37E5-DA64-346ABEAC0D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96615CA-83B7-BF3F-B5F1-DD63C15C4B66}"/>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18AA0EE1-4FF0-F2DA-F490-5907C928A9A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4" name="Tabla 3">
            <a:extLst>
              <a:ext uri="{FF2B5EF4-FFF2-40B4-BE49-F238E27FC236}">
                <a16:creationId xmlns:a16="http://schemas.microsoft.com/office/drawing/2014/main" id="{6F3F0A13-E679-7E7F-A320-557A061E52E3}"/>
              </a:ext>
            </a:extLst>
          </p:cNvPr>
          <p:cNvGraphicFramePr>
            <a:graphicFrameLocks noGrp="1"/>
          </p:cNvGraphicFramePr>
          <p:nvPr>
            <p:extLst>
              <p:ext uri="{D42A27DB-BD31-4B8C-83A1-F6EECF244321}">
                <p14:modId xmlns:p14="http://schemas.microsoft.com/office/powerpoint/2010/main" val="587940419"/>
              </p:ext>
            </p:extLst>
          </p:nvPr>
        </p:nvGraphicFramePr>
        <p:xfrm>
          <a:off x="620405" y="2500056"/>
          <a:ext cx="5029200" cy="4043680"/>
        </p:xfrm>
        <a:graphic>
          <a:graphicData uri="http://schemas.openxmlformats.org/drawingml/2006/table">
            <a:tbl>
              <a:tblPr firstRow="1" bandRow="1">
                <a:tableStyleId>{5C22544A-7EE6-4342-B048-85BDC9FD1C3A}</a:tableStyleId>
              </a:tblPr>
              <a:tblGrid>
                <a:gridCol w="2905537">
                  <a:extLst>
                    <a:ext uri="{9D8B030D-6E8A-4147-A177-3AD203B41FA5}">
                      <a16:colId xmlns:a16="http://schemas.microsoft.com/office/drawing/2014/main" val="1289272814"/>
                    </a:ext>
                  </a:extLst>
                </a:gridCol>
                <a:gridCol w="2123663">
                  <a:extLst>
                    <a:ext uri="{9D8B030D-6E8A-4147-A177-3AD203B41FA5}">
                      <a16:colId xmlns:a16="http://schemas.microsoft.com/office/drawing/2014/main" val="1462722498"/>
                    </a:ext>
                  </a:extLst>
                </a:gridCol>
              </a:tblGrid>
              <a:tr h="142240">
                <a:tc>
                  <a:txBody>
                    <a:bodyPr/>
                    <a:lstStyle/>
                    <a:p>
                      <a:r>
                        <a:rPr lang="es-ES" sz="1600" dirty="0" err="1"/>
                        <a:t>Parameters</a:t>
                      </a:r>
                      <a:r>
                        <a:rPr lang="es-ES" sz="1600" dirty="0"/>
                        <a:t>: </a:t>
                      </a:r>
                    </a:p>
                  </a:txBody>
                  <a:tcPr/>
                </a:tc>
                <a:tc>
                  <a:txBody>
                    <a:bodyPr/>
                    <a:lstStyle/>
                    <a:p>
                      <a:endParaRPr lang="es-ES" sz="1600" dirty="0"/>
                    </a:p>
                  </a:txBody>
                  <a:tcPr/>
                </a:tc>
                <a:extLst>
                  <a:ext uri="{0D108BD9-81ED-4DB2-BD59-A6C34878D82A}">
                    <a16:rowId xmlns:a16="http://schemas.microsoft.com/office/drawing/2014/main" val="1051660796"/>
                  </a:ext>
                </a:extLst>
              </a:tr>
              <a:tr h="370840">
                <a:tc>
                  <a:txBody>
                    <a:bodyPr/>
                    <a:lstStyle/>
                    <a:p>
                      <a:r>
                        <a:rPr lang="es-ES" sz="1600" dirty="0"/>
                        <a:t>MMI </a:t>
                      </a:r>
                      <a:r>
                        <a:rPr lang="es-ES" sz="1600" dirty="0" err="1"/>
                        <a:t>length</a:t>
                      </a:r>
                      <a:r>
                        <a:rPr lang="es-ES" sz="1600" dirty="0"/>
                        <a:t> </a:t>
                      </a:r>
                    </a:p>
                  </a:txBody>
                  <a:tcPr/>
                </a:tc>
                <a:tc>
                  <a:txBody>
                    <a:bodyPr/>
                    <a:lstStyle/>
                    <a:p>
                      <a:r>
                        <a:rPr lang="es-ES" sz="1600" b="0" i="0" dirty="0">
                          <a:solidFill>
                            <a:schemeClr val="dk1"/>
                          </a:solidFill>
                          <a:effectLst/>
                          <a:latin typeface="+mn-lt"/>
                          <a:ea typeface="+mn-ea"/>
                          <a:cs typeface="+mn-cs"/>
                        </a:rPr>
                        <a:t>34,518 </a:t>
                      </a:r>
                      <a:r>
                        <a:rPr lang="es-ES" sz="1600" b="0" i="0" dirty="0" err="1">
                          <a:solidFill>
                            <a:schemeClr val="dk1"/>
                          </a:solidFill>
                          <a:effectLst/>
                          <a:latin typeface="+mn-lt"/>
                          <a:ea typeface="+mn-ea"/>
                          <a:cs typeface="+mn-cs"/>
                        </a:rPr>
                        <a:t>um</a:t>
                      </a:r>
                      <a:endParaRPr lang="es-ES" sz="1600" dirty="0"/>
                    </a:p>
                  </a:txBody>
                  <a:tcPr/>
                </a:tc>
                <a:extLst>
                  <a:ext uri="{0D108BD9-81ED-4DB2-BD59-A6C34878D82A}">
                    <a16:rowId xmlns:a16="http://schemas.microsoft.com/office/drawing/2014/main" val="1035157036"/>
                  </a:ext>
                </a:extLst>
              </a:tr>
              <a:tr h="370840">
                <a:tc>
                  <a:txBody>
                    <a:bodyPr/>
                    <a:lstStyle/>
                    <a:p>
                      <a:r>
                        <a:rPr lang="es-ES" sz="1600" dirty="0"/>
                        <a:t>MMI </a:t>
                      </a:r>
                      <a:r>
                        <a:rPr lang="es-ES" sz="1600" dirty="0" err="1"/>
                        <a:t>length</a:t>
                      </a:r>
                      <a:r>
                        <a:rPr lang="es-ES" sz="1600" dirty="0"/>
                        <a:t> </a:t>
                      </a:r>
                      <a:r>
                        <a:rPr lang="es-ES" sz="1600" dirty="0" err="1"/>
                        <a:t>increment</a:t>
                      </a:r>
                      <a:endParaRPr lang="es-ES" sz="1600" dirty="0"/>
                    </a:p>
                  </a:txBody>
                  <a:tcPr/>
                </a:tc>
                <a:tc>
                  <a:txBody>
                    <a:bodyPr/>
                    <a:lstStyle/>
                    <a:p>
                      <a:r>
                        <a:rPr lang="es-ES" sz="1600" dirty="0"/>
                        <a:t>-0,5</a:t>
                      </a:r>
                    </a:p>
                  </a:txBody>
                  <a:tcPr/>
                </a:tc>
                <a:extLst>
                  <a:ext uri="{0D108BD9-81ED-4DB2-BD59-A6C34878D82A}">
                    <a16:rowId xmlns:a16="http://schemas.microsoft.com/office/drawing/2014/main" val="952336144"/>
                  </a:ext>
                </a:extLst>
              </a:tr>
              <a:tr h="370840">
                <a:tc>
                  <a:txBody>
                    <a:bodyPr/>
                    <a:lstStyle/>
                    <a:p>
                      <a:r>
                        <a:rPr lang="es-ES" sz="1600" dirty="0"/>
                        <a:t>IO </a:t>
                      </a:r>
                      <a:r>
                        <a:rPr lang="es-ES" sz="1600" dirty="0" err="1"/>
                        <a:t>wg</a:t>
                      </a:r>
                      <a:r>
                        <a:rPr lang="es-ES" sz="1600" dirty="0"/>
                        <a:t> </a:t>
                      </a:r>
                      <a:r>
                        <a:rPr lang="es-ES" sz="1600" dirty="0" err="1"/>
                        <a:t>width</a:t>
                      </a:r>
                      <a:endParaRPr lang="es-ES" sz="1600" dirty="0"/>
                    </a:p>
                  </a:txBody>
                  <a:tcPr/>
                </a:tc>
                <a:tc>
                  <a:txBody>
                    <a:bodyPr/>
                    <a:lstStyle/>
                    <a:p>
                      <a:r>
                        <a:rPr lang="es-ES" sz="1600" dirty="0"/>
                        <a:t>1</a:t>
                      </a:r>
                    </a:p>
                  </a:txBody>
                  <a:tcPr/>
                </a:tc>
                <a:extLst>
                  <a:ext uri="{0D108BD9-81ED-4DB2-BD59-A6C34878D82A}">
                    <a16:rowId xmlns:a16="http://schemas.microsoft.com/office/drawing/2014/main" val="3217308764"/>
                  </a:ext>
                </a:extLst>
              </a:tr>
              <a:tr h="370840">
                <a:tc>
                  <a:txBody>
                    <a:bodyPr/>
                    <a:lstStyle/>
                    <a:p>
                      <a:r>
                        <a:rPr lang="es-ES" sz="1600" dirty="0"/>
                        <a:t>IO </a:t>
                      </a:r>
                      <a:r>
                        <a:rPr lang="es-ES" sz="1600" dirty="0" err="1"/>
                        <a:t>wg</a:t>
                      </a:r>
                      <a:r>
                        <a:rPr lang="es-ES" sz="1600" dirty="0"/>
                        <a:t> </a:t>
                      </a:r>
                      <a:r>
                        <a:rPr lang="es-ES" sz="1600" dirty="0" err="1"/>
                        <a:t>width</a:t>
                      </a:r>
                      <a:r>
                        <a:rPr lang="es-ES" sz="1600" dirty="0"/>
                        <a:t> </a:t>
                      </a:r>
                      <a:r>
                        <a:rPr lang="es-ES" sz="1600" dirty="0" err="1"/>
                        <a:t>increment</a:t>
                      </a:r>
                      <a:endParaRPr lang="es-ES" sz="1600" dirty="0"/>
                    </a:p>
                  </a:txBody>
                  <a:tcPr/>
                </a:tc>
                <a:tc>
                  <a:txBody>
                    <a:bodyPr/>
                    <a:lstStyle/>
                    <a:p>
                      <a:r>
                        <a:rPr lang="es-ES" sz="1600" dirty="0"/>
                        <a:t>0</a:t>
                      </a:r>
                    </a:p>
                  </a:txBody>
                  <a:tcPr/>
                </a:tc>
                <a:extLst>
                  <a:ext uri="{0D108BD9-81ED-4DB2-BD59-A6C34878D82A}">
                    <a16:rowId xmlns:a16="http://schemas.microsoft.com/office/drawing/2014/main" val="3457329804"/>
                  </a:ext>
                </a:extLst>
              </a:tr>
              <a:tr h="370840">
                <a:tc>
                  <a:txBody>
                    <a:bodyPr/>
                    <a:lstStyle/>
                    <a:p>
                      <a:r>
                        <a:rPr lang="es-ES" sz="1600" dirty="0"/>
                        <a:t>Total </a:t>
                      </a:r>
                      <a:r>
                        <a:rPr lang="es-ES" sz="1600" dirty="0" err="1"/>
                        <a:t>power</a:t>
                      </a:r>
                      <a:r>
                        <a:rPr lang="es-ES" sz="1600" dirty="0"/>
                        <a:t> IN </a:t>
                      </a:r>
                      <a:r>
                        <a:rPr lang="es-ES" sz="1600" dirty="0" err="1"/>
                        <a:t>coupled</a:t>
                      </a:r>
                      <a:endParaRPr lang="es-ES" sz="1600" dirty="0"/>
                    </a:p>
                  </a:txBody>
                  <a:tcPr/>
                </a:tc>
                <a:tc>
                  <a:txBody>
                    <a:bodyPr/>
                    <a:lstStyle/>
                    <a:p>
                      <a:r>
                        <a:rPr lang="es-ES" sz="1600" b="0" i="0" dirty="0">
                          <a:solidFill>
                            <a:schemeClr val="dk1"/>
                          </a:solidFill>
                          <a:effectLst/>
                          <a:latin typeface="+mn-lt"/>
                          <a:ea typeface="+mn-ea"/>
                          <a:cs typeface="+mn-cs"/>
                        </a:rPr>
                        <a:t>0.957</a:t>
                      </a:r>
                      <a:endParaRPr lang="es-ES" sz="1600" dirty="0"/>
                    </a:p>
                  </a:txBody>
                  <a:tcPr/>
                </a:tc>
                <a:extLst>
                  <a:ext uri="{0D108BD9-81ED-4DB2-BD59-A6C34878D82A}">
                    <a16:rowId xmlns:a16="http://schemas.microsoft.com/office/drawing/2014/main" val="1566769035"/>
                  </a:ext>
                </a:extLst>
              </a:tr>
              <a:tr h="370840">
                <a:tc>
                  <a:txBody>
                    <a:bodyPr/>
                    <a:lstStyle/>
                    <a:p>
                      <a:r>
                        <a:rPr lang="es-ES" sz="1600" dirty="0"/>
                        <a:t>Total OUT </a:t>
                      </a:r>
                      <a:r>
                        <a:rPr lang="es-ES" sz="1600" dirty="0" err="1"/>
                        <a:t>power</a:t>
                      </a:r>
                      <a:endParaRPr lang="es-ES" sz="1600" dirty="0"/>
                    </a:p>
                  </a:txBody>
                  <a:tcPr/>
                </a:tc>
                <a:tc>
                  <a:txBody>
                    <a:bodyPr/>
                    <a:lstStyle/>
                    <a:p>
                      <a:r>
                        <a:rPr lang="es-ES" sz="1600" b="0" i="0" dirty="0">
                          <a:solidFill>
                            <a:schemeClr val="dk1"/>
                          </a:solidFill>
                          <a:effectLst/>
                          <a:latin typeface="+mn-lt"/>
                          <a:ea typeface="+mn-ea"/>
                          <a:cs typeface="+mn-cs"/>
                        </a:rPr>
                        <a:t>0.9149</a:t>
                      </a:r>
                      <a:endParaRPr lang="es-ES" sz="1600" dirty="0"/>
                    </a:p>
                  </a:txBody>
                  <a:tcPr/>
                </a:tc>
                <a:extLst>
                  <a:ext uri="{0D108BD9-81ED-4DB2-BD59-A6C34878D82A}">
                    <a16:rowId xmlns:a16="http://schemas.microsoft.com/office/drawing/2014/main" val="1195586971"/>
                  </a:ext>
                </a:extLst>
              </a:tr>
              <a:tr h="370840">
                <a:tc>
                  <a:txBody>
                    <a:bodyPr/>
                    <a:lstStyle/>
                    <a:p>
                      <a:r>
                        <a:rPr lang="es-ES" sz="1600" dirty="0" err="1"/>
                        <a:t>Excess</a:t>
                      </a:r>
                      <a:r>
                        <a:rPr lang="es-ES" sz="1600" dirty="0"/>
                        <a:t> </a:t>
                      </a:r>
                      <a:r>
                        <a:rPr lang="es-ES" sz="1600" dirty="0" err="1"/>
                        <a:t>loss</a:t>
                      </a:r>
                      <a:r>
                        <a:rPr lang="es-ES" sz="1600" dirty="0"/>
                        <a:t> [dB]</a:t>
                      </a:r>
                    </a:p>
                  </a:txBody>
                  <a:tcPr/>
                </a:tc>
                <a:tc>
                  <a:txBody>
                    <a:bodyPr/>
                    <a:lstStyle/>
                    <a:p>
                      <a:r>
                        <a:rPr lang="es-ES" sz="1600" b="0" i="0" dirty="0">
                          <a:solidFill>
                            <a:schemeClr val="dk1"/>
                          </a:solidFill>
                          <a:effectLst/>
                          <a:latin typeface="+mn-lt"/>
                          <a:ea typeface="+mn-ea"/>
                          <a:cs typeface="+mn-cs"/>
                        </a:rPr>
                        <a:t>0.3861</a:t>
                      </a:r>
                      <a:endParaRPr lang="es-ES" sz="1600" dirty="0"/>
                    </a:p>
                  </a:txBody>
                  <a:tcPr/>
                </a:tc>
                <a:extLst>
                  <a:ext uri="{0D108BD9-81ED-4DB2-BD59-A6C34878D82A}">
                    <a16:rowId xmlns:a16="http://schemas.microsoft.com/office/drawing/2014/main" val="3039394333"/>
                  </a:ext>
                </a:extLst>
              </a:tr>
              <a:tr h="370840">
                <a:tc>
                  <a:txBody>
                    <a:bodyPr/>
                    <a:lstStyle/>
                    <a:p>
                      <a:r>
                        <a:rPr lang="es-ES" sz="1600" dirty="0" err="1"/>
                        <a:t>Power</a:t>
                      </a:r>
                      <a:r>
                        <a:rPr lang="es-ES" sz="1600" dirty="0"/>
                        <a:t> </a:t>
                      </a:r>
                      <a:r>
                        <a:rPr lang="es-ES" sz="1600" dirty="0" err="1"/>
                        <a:t>over</a:t>
                      </a:r>
                      <a:r>
                        <a:rPr lang="es-ES" sz="1600" dirty="0"/>
                        <a:t> outputs</a:t>
                      </a:r>
                    </a:p>
                  </a:txBody>
                  <a:tcPr/>
                </a:tc>
                <a:tc>
                  <a:txBody>
                    <a:bodyPr/>
                    <a:lstStyle/>
                    <a:p>
                      <a:r>
                        <a:rPr lang="es-ES" sz="1600" b="0" i="0" dirty="0">
                          <a:solidFill>
                            <a:schemeClr val="dk1"/>
                          </a:solidFill>
                          <a:effectLst/>
                          <a:latin typeface="+mn-lt"/>
                          <a:ea typeface="+mn-ea"/>
                          <a:cs typeface="+mn-cs"/>
                        </a:rPr>
                        <a:t>['0.4631', '0.4399']</a:t>
                      </a:r>
                      <a:endParaRPr lang="es-ES" sz="1600" dirty="0"/>
                    </a:p>
                  </a:txBody>
                  <a:tcPr/>
                </a:tc>
                <a:extLst>
                  <a:ext uri="{0D108BD9-81ED-4DB2-BD59-A6C34878D82A}">
                    <a16:rowId xmlns:a16="http://schemas.microsoft.com/office/drawing/2014/main" val="3378388858"/>
                  </a:ext>
                </a:extLst>
              </a:tr>
              <a:tr h="370840">
                <a:tc>
                  <a:txBody>
                    <a:bodyPr/>
                    <a:lstStyle/>
                    <a:p>
                      <a:r>
                        <a:rPr lang="es-ES" sz="1600" dirty="0"/>
                        <a:t>Ratio </a:t>
                      </a:r>
                      <a:r>
                        <a:rPr lang="es-ES" sz="1600" dirty="0" err="1"/>
                        <a:t>over</a:t>
                      </a:r>
                      <a:r>
                        <a:rPr lang="es-ES" sz="1600" dirty="0"/>
                        <a:t> outputs</a:t>
                      </a:r>
                    </a:p>
                  </a:txBody>
                  <a:tcPr/>
                </a:tc>
                <a:tc>
                  <a:txBody>
                    <a:bodyPr/>
                    <a:lstStyle/>
                    <a:p>
                      <a:r>
                        <a:rPr lang="es-ES" sz="1600" b="0" i="0" dirty="0">
                          <a:solidFill>
                            <a:schemeClr val="dk1"/>
                          </a:solidFill>
                          <a:effectLst/>
                          <a:latin typeface="+mn-lt"/>
                          <a:ea typeface="+mn-ea"/>
                          <a:cs typeface="+mn-cs"/>
                        </a:rPr>
                        <a:t>[‘0.5062', ‘0.4938']</a:t>
                      </a:r>
                      <a:endParaRPr lang="es-ES" sz="1600" dirty="0"/>
                    </a:p>
                  </a:txBody>
                  <a:tcPr/>
                </a:tc>
                <a:extLst>
                  <a:ext uri="{0D108BD9-81ED-4DB2-BD59-A6C34878D82A}">
                    <a16:rowId xmlns:a16="http://schemas.microsoft.com/office/drawing/2014/main" val="1409907929"/>
                  </a:ext>
                </a:extLst>
              </a:tr>
              <a:tr h="370840">
                <a:tc>
                  <a:txBody>
                    <a:bodyPr/>
                    <a:lstStyle/>
                    <a:p>
                      <a:r>
                        <a:rPr lang="es-ES" sz="1600" dirty="0" err="1"/>
                        <a:t>dy</a:t>
                      </a:r>
                      <a:endParaRPr lang="es-ES" sz="1600" dirty="0"/>
                    </a:p>
                  </a:txBody>
                  <a:tcPr/>
                </a:tc>
                <a:tc>
                  <a:txBody>
                    <a:bodyPr/>
                    <a:lstStyle/>
                    <a:p>
                      <a:r>
                        <a:rPr lang="es-ES" sz="1600" dirty="0"/>
                        <a:t>0,05</a:t>
                      </a:r>
                    </a:p>
                  </a:txBody>
                  <a:tcPr/>
                </a:tc>
                <a:extLst>
                  <a:ext uri="{0D108BD9-81ED-4DB2-BD59-A6C34878D82A}">
                    <a16:rowId xmlns:a16="http://schemas.microsoft.com/office/drawing/2014/main" val="1700050508"/>
                  </a:ext>
                </a:extLst>
              </a:tr>
            </a:tbl>
          </a:graphicData>
        </a:graphic>
      </p:graphicFrame>
      <p:sp>
        <p:nvSpPr>
          <p:cNvPr id="11" name="CuadroTexto 10">
            <a:extLst>
              <a:ext uri="{FF2B5EF4-FFF2-40B4-BE49-F238E27FC236}">
                <a16:creationId xmlns:a16="http://schemas.microsoft.com/office/drawing/2014/main" id="{D38FC93D-C5DF-CC2C-73CB-DF1180105B18}"/>
              </a:ext>
            </a:extLst>
          </p:cNvPr>
          <p:cNvSpPr txBox="1"/>
          <p:nvPr/>
        </p:nvSpPr>
        <p:spPr>
          <a:xfrm>
            <a:off x="5832676" y="1423915"/>
            <a:ext cx="6260939" cy="4278094"/>
          </a:xfrm>
          <a:prstGeom prst="rect">
            <a:avLst/>
          </a:prstGeom>
          <a:noFill/>
        </p:spPr>
        <p:txBody>
          <a:bodyPr wrap="square">
            <a:spAutoFit/>
          </a:bodyPr>
          <a:lstStyle/>
          <a:p>
            <a:pPr algn="just"/>
            <a:r>
              <a:rPr lang="en-US" sz="1600" dirty="0"/>
              <a:t>To improve the power balance and reduce excess loss, a manual optimization of the MMI geometry was performed by slightly adjusting the device length and the position of the I/O waveguides. The MMI length was shortened by 0.5 µm and a small transverse shift of the ports (</a:t>
            </a:r>
            <a:r>
              <a:rPr lang="en-US" sz="1600" dirty="0" err="1"/>
              <a:t>dy</a:t>
            </a:r>
            <a:r>
              <a:rPr lang="en-US" sz="1600" dirty="0"/>
              <a:t> = 0.05 µm) was introduced, while keeping the I/O waveguide width at 1 µm.</a:t>
            </a:r>
          </a:p>
          <a:p>
            <a:pPr algn="just"/>
            <a:endParaRPr lang="en-US" sz="1600" dirty="0"/>
          </a:p>
          <a:p>
            <a:pPr algn="just"/>
            <a:r>
              <a:rPr lang="en-US" sz="1600" dirty="0"/>
              <a:t>Shortening the device and slightly shifting the ports improves the alignment between the self-image and the output waveguides.</a:t>
            </a:r>
          </a:p>
          <a:p>
            <a:pPr algn="just"/>
            <a:r>
              <a:rPr lang="en-US" sz="1600" dirty="0"/>
              <a:t>The optimized configuration shows a balanced power division with output powers of 0.463 and 0.440, corresponding to a ratio of about 0.506 and 0.494. The coupled input power is about 0.957 and the total output power is 0.9149, resulting in an excess loss of 0.3861 </a:t>
            </a:r>
            <a:r>
              <a:rPr lang="en-US" sz="1600" dirty="0" err="1"/>
              <a:t>dB.</a:t>
            </a:r>
            <a:r>
              <a:rPr lang="en-US" sz="1600" dirty="0"/>
              <a:t> The EME propagation profile also shows better overlap between the self-imaging pattern and the output ports, confirming that small geometric adjustments can improve the efficiency of the MMI splitter. However, loss is still too high. </a:t>
            </a:r>
          </a:p>
        </p:txBody>
      </p:sp>
      <p:pic>
        <p:nvPicPr>
          <p:cNvPr id="6" name="Imagen 5">
            <a:extLst>
              <a:ext uri="{FF2B5EF4-FFF2-40B4-BE49-F238E27FC236}">
                <a16:creationId xmlns:a16="http://schemas.microsoft.com/office/drawing/2014/main" id="{EF9EF84F-0C80-DB39-6948-85E4E6BAADFB}"/>
              </a:ext>
            </a:extLst>
          </p:cNvPr>
          <p:cNvPicPr>
            <a:picLocks noChangeAspect="1"/>
          </p:cNvPicPr>
          <p:nvPr/>
        </p:nvPicPr>
        <p:blipFill>
          <a:blip r:embed="rId5"/>
          <a:stretch>
            <a:fillRect/>
          </a:stretch>
        </p:blipFill>
        <p:spPr>
          <a:xfrm>
            <a:off x="381000" y="396347"/>
            <a:ext cx="5029200" cy="2091791"/>
          </a:xfrm>
          <a:prstGeom prst="rect">
            <a:avLst/>
          </a:prstGeom>
        </p:spPr>
      </p:pic>
    </p:spTree>
    <p:extLst>
      <p:ext uri="{BB962C8B-B14F-4D97-AF65-F5344CB8AC3E}">
        <p14:creationId xmlns:p14="http://schemas.microsoft.com/office/powerpoint/2010/main" val="3580773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2EADE-160F-C329-4209-688B90C4B7D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64CB463-BC30-6DEF-61A1-2A97DEB10C85}"/>
              </a:ext>
            </a:extLst>
          </p:cNvPr>
          <p:cNvSpPr txBox="1">
            <a:spLocks noGrp="1"/>
          </p:cNvSpPr>
          <p:nvPr>
            <p:ph type="title"/>
          </p:nvPr>
        </p:nvSpPr>
        <p:spPr>
          <a:xfrm>
            <a:off x="152400" y="45281"/>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9B3C555F-E7D5-A9AA-964A-677BAC8E7E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827B1B9-4E55-7418-4F58-3D83AAD30E47}"/>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DD3B7283-F1AC-0EA0-CE24-C432229A5EE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4" name="Tabla 3">
            <a:extLst>
              <a:ext uri="{FF2B5EF4-FFF2-40B4-BE49-F238E27FC236}">
                <a16:creationId xmlns:a16="http://schemas.microsoft.com/office/drawing/2014/main" id="{8FE89460-58AE-9578-AA99-E68F95EC5C6E}"/>
              </a:ext>
            </a:extLst>
          </p:cNvPr>
          <p:cNvGraphicFramePr>
            <a:graphicFrameLocks noGrp="1"/>
          </p:cNvGraphicFramePr>
          <p:nvPr>
            <p:extLst>
              <p:ext uri="{D42A27DB-BD31-4B8C-83A1-F6EECF244321}">
                <p14:modId xmlns:p14="http://schemas.microsoft.com/office/powerpoint/2010/main" val="1212350039"/>
              </p:ext>
            </p:extLst>
          </p:nvPr>
        </p:nvGraphicFramePr>
        <p:xfrm>
          <a:off x="254645" y="1076025"/>
          <a:ext cx="5410200" cy="2352975"/>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1289272814"/>
                    </a:ext>
                  </a:extLst>
                </a:gridCol>
                <a:gridCol w="1905000">
                  <a:extLst>
                    <a:ext uri="{9D8B030D-6E8A-4147-A177-3AD203B41FA5}">
                      <a16:colId xmlns:a16="http://schemas.microsoft.com/office/drawing/2014/main" val="1462722498"/>
                    </a:ext>
                  </a:extLst>
                </a:gridCol>
                <a:gridCol w="1828800">
                  <a:extLst>
                    <a:ext uri="{9D8B030D-6E8A-4147-A177-3AD203B41FA5}">
                      <a16:colId xmlns:a16="http://schemas.microsoft.com/office/drawing/2014/main" val="2078518157"/>
                    </a:ext>
                  </a:extLst>
                </a:gridCol>
              </a:tblGrid>
              <a:tr h="0">
                <a:tc>
                  <a:txBody>
                    <a:bodyPr/>
                    <a:lstStyle/>
                    <a:p>
                      <a:r>
                        <a:rPr lang="es-ES" sz="1600" dirty="0"/>
                        <a:t>IO </a:t>
                      </a:r>
                      <a:r>
                        <a:rPr lang="es-ES" sz="1600" dirty="0" err="1"/>
                        <a:t>wg</a:t>
                      </a:r>
                      <a:r>
                        <a:rPr lang="es-ES" sz="1600" dirty="0"/>
                        <a:t> </a:t>
                      </a:r>
                      <a:r>
                        <a:rPr lang="es-ES" sz="1600" dirty="0" err="1"/>
                        <a:t>width</a:t>
                      </a:r>
                      <a:r>
                        <a:rPr lang="es-ES" sz="1600" dirty="0"/>
                        <a:t> </a:t>
                      </a:r>
                      <a:r>
                        <a:rPr lang="es-ES" sz="1600" dirty="0" err="1"/>
                        <a:t>increment</a:t>
                      </a:r>
                      <a:endParaRPr lang="es-ES" sz="1600" dirty="0"/>
                    </a:p>
                  </a:txBody>
                  <a:tcPr/>
                </a:tc>
                <a:tc>
                  <a:txBody>
                    <a:bodyPr/>
                    <a:lstStyle/>
                    <a:p>
                      <a:r>
                        <a:rPr lang="es-ES" sz="1600" dirty="0" err="1"/>
                        <a:t>Excess</a:t>
                      </a:r>
                      <a:r>
                        <a:rPr lang="es-ES" sz="1600" dirty="0"/>
                        <a:t> los [dB]</a:t>
                      </a:r>
                    </a:p>
                  </a:txBody>
                  <a:tcPr/>
                </a:tc>
                <a:tc>
                  <a:txBody>
                    <a:bodyPr/>
                    <a:lstStyle/>
                    <a:p>
                      <a:r>
                        <a:rPr lang="es-ES" sz="1600" dirty="0"/>
                        <a:t>Ratio </a:t>
                      </a:r>
                      <a:r>
                        <a:rPr lang="es-ES" sz="1600" dirty="0" err="1"/>
                        <a:t>over</a:t>
                      </a:r>
                      <a:r>
                        <a:rPr lang="es-ES" sz="1600" dirty="0"/>
                        <a:t> outputs</a:t>
                      </a:r>
                    </a:p>
                  </a:txBody>
                  <a:tcPr/>
                </a:tc>
                <a:extLst>
                  <a:ext uri="{0D108BD9-81ED-4DB2-BD59-A6C34878D82A}">
                    <a16:rowId xmlns:a16="http://schemas.microsoft.com/office/drawing/2014/main" val="1051660796"/>
                  </a:ext>
                </a:extLst>
              </a:tr>
              <a:tr h="235499">
                <a:tc>
                  <a:txBody>
                    <a:bodyPr/>
                    <a:lstStyle/>
                    <a:p>
                      <a:r>
                        <a:rPr lang="es-ES" sz="1600" dirty="0"/>
                        <a:t>1,2 </a:t>
                      </a:r>
                      <a:r>
                        <a:rPr lang="es-ES" sz="1600" dirty="0" err="1"/>
                        <a:t>um</a:t>
                      </a:r>
                      <a:endParaRPr lang="es-ES" sz="1600" dirty="0"/>
                    </a:p>
                  </a:txBody>
                  <a:tcPr/>
                </a:tc>
                <a:tc>
                  <a:txBody>
                    <a:bodyPr/>
                    <a:lstStyle/>
                    <a:p>
                      <a:r>
                        <a:rPr lang="es-ES" sz="1600" b="0" i="0" dirty="0">
                          <a:solidFill>
                            <a:schemeClr val="dk1"/>
                          </a:solidFill>
                          <a:effectLst/>
                          <a:latin typeface="+mn-lt"/>
                          <a:ea typeface="+mn-ea"/>
                          <a:cs typeface="+mn-cs"/>
                        </a:rPr>
                        <a:t>0,0018</a:t>
                      </a:r>
                      <a:endParaRPr lang="es-ES" sz="1600" dirty="0"/>
                    </a:p>
                  </a:txBody>
                  <a:tcPr/>
                </a:tc>
                <a:tc>
                  <a:txBody>
                    <a:bodyPr/>
                    <a:lstStyle/>
                    <a:p>
                      <a:r>
                        <a:rPr lang="es-ES" sz="1600" b="0" i="0" dirty="0">
                          <a:solidFill>
                            <a:schemeClr val="dk1"/>
                          </a:solidFill>
                          <a:effectLst/>
                          <a:latin typeface="+mn-lt"/>
                          <a:ea typeface="+mn-ea"/>
                          <a:cs typeface="+mn-cs"/>
                        </a:rPr>
                        <a:t>['0.5132', '0.4868']</a:t>
                      </a:r>
                      <a:endParaRPr lang="es-ES" sz="1600" dirty="0"/>
                    </a:p>
                  </a:txBody>
                  <a:tcPr/>
                </a:tc>
                <a:extLst>
                  <a:ext uri="{0D108BD9-81ED-4DB2-BD59-A6C34878D82A}">
                    <a16:rowId xmlns:a16="http://schemas.microsoft.com/office/drawing/2014/main" val="1035157036"/>
                  </a:ext>
                </a:extLst>
              </a:tr>
              <a:tr h="367765">
                <a:tc>
                  <a:txBody>
                    <a:bodyPr/>
                    <a:lstStyle/>
                    <a:p>
                      <a:r>
                        <a:rPr lang="es-ES" sz="1600" dirty="0"/>
                        <a:t>1,4 </a:t>
                      </a:r>
                      <a:r>
                        <a:rPr lang="es-ES" sz="1600" dirty="0" err="1"/>
                        <a:t>um</a:t>
                      </a:r>
                      <a:endParaRPr lang="es-ES" sz="1600" dirty="0"/>
                    </a:p>
                  </a:txBody>
                  <a:tcPr/>
                </a:tc>
                <a:tc>
                  <a:txBody>
                    <a:bodyPr/>
                    <a:lstStyle/>
                    <a:p>
                      <a:r>
                        <a:rPr lang="es-ES" sz="1600" dirty="0"/>
                        <a:t>-0,0075</a:t>
                      </a:r>
                    </a:p>
                  </a:txBody>
                  <a:tcPr/>
                </a:tc>
                <a:tc>
                  <a:txBody>
                    <a:bodyPr/>
                    <a:lstStyle/>
                    <a:p>
                      <a:r>
                        <a:rPr lang="es-ES" sz="1600" b="0" i="0" dirty="0">
                          <a:solidFill>
                            <a:schemeClr val="dk1"/>
                          </a:solidFill>
                          <a:effectLst/>
                          <a:latin typeface="+mn-lt"/>
                          <a:ea typeface="+mn-ea"/>
                          <a:cs typeface="+mn-cs"/>
                        </a:rPr>
                        <a:t>['0.5138', '0.4862']</a:t>
                      </a:r>
                      <a:endParaRPr lang="es-ES" sz="1600" dirty="0"/>
                    </a:p>
                  </a:txBody>
                  <a:tcPr/>
                </a:tc>
                <a:extLst>
                  <a:ext uri="{0D108BD9-81ED-4DB2-BD59-A6C34878D82A}">
                    <a16:rowId xmlns:a16="http://schemas.microsoft.com/office/drawing/2014/main" val="952336144"/>
                  </a:ext>
                </a:extLst>
              </a:tr>
              <a:tr h="235499">
                <a:tc>
                  <a:txBody>
                    <a:bodyPr/>
                    <a:lstStyle/>
                    <a:p>
                      <a:r>
                        <a:rPr lang="es-ES" sz="1600" dirty="0"/>
                        <a:t>1,5 </a:t>
                      </a:r>
                      <a:r>
                        <a:rPr lang="es-ES" sz="1600" dirty="0" err="1"/>
                        <a:t>um</a:t>
                      </a:r>
                      <a:endParaRPr lang="es-ES" sz="1600" dirty="0"/>
                    </a:p>
                  </a:txBody>
                  <a:tcPr/>
                </a:tc>
                <a:tc>
                  <a:txBody>
                    <a:bodyPr/>
                    <a:lstStyle/>
                    <a:p>
                      <a:r>
                        <a:rPr lang="es-ES" sz="1600" b="0" i="0" dirty="0">
                          <a:solidFill>
                            <a:schemeClr val="dk1"/>
                          </a:solidFill>
                          <a:effectLst/>
                          <a:latin typeface="+mn-lt"/>
                          <a:ea typeface="+mn-ea"/>
                          <a:cs typeface="+mn-cs"/>
                        </a:rPr>
                        <a:t>-0.0114</a:t>
                      </a:r>
                      <a:endParaRPr lang="es-ES" sz="1600" dirty="0"/>
                    </a:p>
                  </a:txBody>
                  <a:tcPr/>
                </a:tc>
                <a:tc>
                  <a:txBody>
                    <a:bodyPr/>
                    <a:lstStyle/>
                    <a:p>
                      <a:r>
                        <a:rPr lang="es-ES" sz="1600" b="0" i="0" dirty="0">
                          <a:solidFill>
                            <a:schemeClr val="dk1"/>
                          </a:solidFill>
                          <a:effectLst/>
                          <a:latin typeface="+mn-lt"/>
                          <a:ea typeface="+mn-ea"/>
                          <a:cs typeface="+mn-cs"/>
                        </a:rPr>
                        <a:t>['0.5140', '0.4860']</a:t>
                      </a:r>
                      <a:endParaRPr lang="es-ES" sz="1600" dirty="0"/>
                    </a:p>
                  </a:txBody>
                  <a:tcPr/>
                </a:tc>
                <a:extLst>
                  <a:ext uri="{0D108BD9-81ED-4DB2-BD59-A6C34878D82A}">
                    <a16:rowId xmlns:a16="http://schemas.microsoft.com/office/drawing/2014/main" val="3217308764"/>
                  </a:ext>
                </a:extLst>
              </a:tr>
              <a:tr h="367765">
                <a:tc>
                  <a:txBody>
                    <a:bodyPr/>
                    <a:lstStyle/>
                    <a:p>
                      <a:r>
                        <a:rPr lang="es-ES" sz="1600" dirty="0"/>
                        <a:t>1,6 </a:t>
                      </a:r>
                      <a:r>
                        <a:rPr lang="es-ES" sz="1600" dirty="0" err="1"/>
                        <a:t>um</a:t>
                      </a:r>
                      <a:endParaRPr lang="es-ES" sz="1600" dirty="0"/>
                    </a:p>
                  </a:txBody>
                  <a:tcPr/>
                </a:tc>
                <a:tc>
                  <a:txBody>
                    <a:bodyPr/>
                    <a:lstStyle/>
                    <a:p>
                      <a:r>
                        <a:rPr lang="es-ES" sz="1600" b="0" i="0" dirty="0">
                          <a:solidFill>
                            <a:schemeClr val="dk1"/>
                          </a:solidFill>
                          <a:effectLst/>
                          <a:latin typeface="+mn-lt"/>
                          <a:ea typeface="+mn-ea"/>
                          <a:cs typeface="+mn-cs"/>
                        </a:rPr>
                        <a:t>-0.0186</a:t>
                      </a:r>
                      <a:endParaRPr lang="es-ES" sz="1600" dirty="0"/>
                    </a:p>
                  </a:txBody>
                  <a:tcPr/>
                </a:tc>
                <a:tc>
                  <a:txBody>
                    <a:bodyPr/>
                    <a:lstStyle/>
                    <a:p>
                      <a:r>
                        <a:rPr lang="es-ES" sz="1600" b="0" i="0" dirty="0">
                          <a:solidFill>
                            <a:schemeClr val="dk1"/>
                          </a:solidFill>
                          <a:effectLst/>
                          <a:latin typeface="+mn-lt"/>
                          <a:ea typeface="+mn-ea"/>
                          <a:cs typeface="+mn-cs"/>
                        </a:rPr>
                        <a:t>['0.5140', '0.4860']</a:t>
                      </a:r>
                      <a:endParaRPr lang="es-ES" sz="1600" dirty="0"/>
                    </a:p>
                  </a:txBody>
                  <a:tcPr/>
                </a:tc>
                <a:extLst>
                  <a:ext uri="{0D108BD9-81ED-4DB2-BD59-A6C34878D82A}">
                    <a16:rowId xmlns:a16="http://schemas.microsoft.com/office/drawing/2014/main" val="3457329804"/>
                  </a:ext>
                </a:extLst>
              </a:tr>
              <a:tr h="367765">
                <a:tc>
                  <a:txBody>
                    <a:bodyPr/>
                    <a:lstStyle/>
                    <a:p>
                      <a:r>
                        <a:rPr lang="es-ES" sz="1600" dirty="0"/>
                        <a:t>1,7 </a:t>
                      </a:r>
                    </a:p>
                  </a:txBody>
                  <a:tcPr/>
                </a:tc>
                <a:tc>
                  <a:txBody>
                    <a:bodyPr/>
                    <a:lstStyle/>
                    <a:p>
                      <a:r>
                        <a:rPr lang="es-ES" sz="1600" b="0" i="0" dirty="0">
                          <a:solidFill>
                            <a:schemeClr val="dk1"/>
                          </a:solidFill>
                          <a:effectLst/>
                          <a:latin typeface="+mn-lt"/>
                          <a:ea typeface="+mn-ea"/>
                          <a:cs typeface="+mn-cs"/>
                        </a:rPr>
                        <a:t>-0,026</a:t>
                      </a:r>
                      <a:endParaRPr lang="es-ES" sz="1600" dirty="0"/>
                    </a:p>
                  </a:txBody>
                  <a:tcPr/>
                </a:tc>
                <a:tc>
                  <a:txBody>
                    <a:bodyPr/>
                    <a:lstStyle/>
                    <a:p>
                      <a:r>
                        <a:rPr lang="es-ES" sz="1600" b="0" i="0" dirty="0">
                          <a:solidFill>
                            <a:schemeClr val="dk1"/>
                          </a:solidFill>
                          <a:effectLst/>
                          <a:latin typeface="+mn-lt"/>
                          <a:ea typeface="+mn-ea"/>
                          <a:cs typeface="+mn-cs"/>
                        </a:rPr>
                        <a:t>['0.5140', '0.4860']</a:t>
                      </a:r>
                      <a:endParaRPr lang="es-ES" sz="1600" dirty="0"/>
                    </a:p>
                  </a:txBody>
                  <a:tcPr/>
                </a:tc>
                <a:extLst>
                  <a:ext uri="{0D108BD9-81ED-4DB2-BD59-A6C34878D82A}">
                    <a16:rowId xmlns:a16="http://schemas.microsoft.com/office/drawing/2014/main" val="1566769035"/>
                  </a:ext>
                </a:extLst>
              </a:tr>
            </a:tbl>
          </a:graphicData>
        </a:graphic>
      </p:graphicFrame>
      <p:sp>
        <p:nvSpPr>
          <p:cNvPr id="11" name="CuadroTexto 10">
            <a:extLst>
              <a:ext uri="{FF2B5EF4-FFF2-40B4-BE49-F238E27FC236}">
                <a16:creationId xmlns:a16="http://schemas.microsoft.com/office/drawing/2014/main" id="{80567595-6CAA-60B2-89EC-9B6DE8D5AD7C}"/>
              </a:ext>
            </a:extLst>
          </p:cNvPr>
          <p:cNvSpPr txBox="1"/>
          <p:nvPr/>
        </p:nvSpPr>
        <p:spPr>
          <a:xfrm>
            <a:off x="5854861" y="1076025"/>
            <a:ext cx="6260939" cy="4278094"/>
          </a:xfrm>
          <a:prstGeom prst="rect">
            <a:avLst/>
          </a:prstGeom>
          <a:noFill/>
        </p:spPr>
        <p:txBody>
          <a:bodyPr wrap="square">
            <a:spAutoFit/>
          </a:bodyPr>
          <a:lstStyle/>
          <a:p>
            <a:pPr algn="just"/>
            <a:r>
              <a:rPr lang="en-US" sz="1600" dirty="0"/>
              <a:t>In this stage the width of the input and output waveguides was increased while keeping the optimized MMI length, port displacement and multimode width fixed. The aim was to improve the modal matching between the access waveguides and the multimode region and therefore reduce the device losses.</a:t>
            </a:r>
          </a:p>
          <a:p>
            <a:pPr algn="just"/>
            <a:endParaRPr lang="en-US" sz="1600" dirty="0"/>
          </a:p>
          <a:p>
            <a:pPr algn="just"/>
            <a:r>
              <a:rPr lang="en-US" sz="1600" dirty="0"/>
              <a:t>The results show that the excess loss remains extremely small for all tested widths. For an I/O width of 1.2 µm the loss is about 0.0018 dB, and it gradually decreases to around −0.026 dB for 1.7 µm. These slightly negative values do not represent physical gain, since the MMI is a passive device. They are caused by small numerical errors related to the EME method. </a:t>
            </a:r>
          </a:p>
          <a:p>
            <a:pPr algn="just"/>
            <a:r>
              <a:rPr lang="en-US" sz="1600" dirty="0"/>
              <a:t>The output power ratio remains very stable across the sweep, with values close to 0.514 and 0.486. This indicates that increasing the I/O waveguide width mainly improves the coupling efficiency while preserving the symmetry of the splitter and maintaining an almost ideal 50:50 power division.</a:t>
            </a:r>
          </a:p>
        </p:txBody>
      </p:sp>
      <p:pic>
        <p:nvPicPr>
          <p:cNvPr id="5" name="Imagen 4">
            <a:extLst>
              <a:ext uri="{FF2B5EF4-FFF2-40B4-BE49-F238E27FC236}">
                <a16:creationId xmlns:a16="http://schemas.microsoft.com/office/drawing/2014/main" id="{FB7E4195-779F-6913-0B02-CB1D4A570E7F}"/>
              </a:ext>
            </a:extLst>
          </p:cNvPr>
          <p:cNvPicPr>
            <a:picLocks noChangeAspect="1"/>
          </p:cNvPicPr>
          <p:nvPr/>
        </p:nvPicPr>
        <p:blipFill>
          <a:blip r:embed="rId5"/>
          <a:stretch>
            <a:fillRect/>
          </a:stretch>
        </p:blipFill>
        <p:spPr>
          <a:xfrm>
            <a:off x="152400" y="3562962"/>
            <a:ext cx="5381625" cy="2238375"/>
          </a:xfrm>
          <a:prstGeom prst="rect">
            <a:avLst/>
          </a:prstGeom>
        </p:spPr>
      </p:pic>
    </p:spTree>
    <p:extLst>
      <p:ext uri="{BB962C8B-B14F-4D97-AF65-F5344CB8AC3E}">
        <p14:creationId xmlns:p14="http://schemas.microsoft.com/office/powerpoint/2010/main" val="456790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389686" y="137160"/>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1x4 Multimode Interference Coupler </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5" name="Imagen 4">
            <a:extLst>
              <a:ext uri="{FF2B5EF4-FFF2-40B4-BE49-F238E27FC236}">
                <a16:creationId xmlns:a16="http://schemas.microsoft.com/office/drawing/2014/main" id="{E74F2F9F-F4D0-7195-C168-CC1B216EE34A}"/>
              </a:ext>
            </a:extLst>
          </p:cNvPr>
          <p:cNvPicPr>
            <a:picLocks noChangeAspect="1"/>
          </p:cNvPicPr>
          <p:nvPr/>
        </p:nvPicPr>
        <p:blipFill>
          <a:blip r:embed="rId5"/>
          <a:stretch>
            <a:fillRect/>
          </a:stretch>
        </p:blipFill>
        <p:spPr>
          <a:xfrm>
            <a:off x="641907" y="655242"/>
            <a:ext cx="4705350" cy="1942801"/>
          </a:xfrm>
          <a:prstGeom prst="rect">
            <a:avLst/>
          </a:prstGeom>
        </p:spPr>
      </p:pic>
      <p:graphicFrame>
        <p:nvGraphicFramePr>
          <p:cNvPr id="6" name="Tabla 5">
            <a:extLst>
              <a:ext uri="{FF2B5EF4-FFF2-40B4-BE49-F238E27FC236}">
                <a16:creationId xmlns:a16="http://schemas.microsoft.com/office/drawing/2014/main" id="{2DF38329-36F0-41C0-A8D4-FA92D6D1AD82}"/>
              </a:ext>
            </a:extLst>
          </p:cNvPr>
          <p:cNvGraphicFramePr>
            <a:graphicFrameLocks noGrp="1"/>
          </p:cNvGraphicFramePr>
          <p:nvPr>
            <p:extLst>
              <p:ext uri="{D42A27DB-BD31-4B8C-83A1-F6EECF244321}">
                <p14:modId xmlns:p14="http://schemas.microsoft.com/office/powerpoint/2010/main" val="1112492317"/>
              </p:ext>
            </p:extLst>
          </p:nvPr>
        </p:nvGraphicFramePr>
        <p:xfrm>
          <a:off x="444676" y="2598043"/>
          <a:ext cx="5643548" cy="4043680"/>
        </p:xfrm>
        <a:graphic>
          <a:graphicData uri="http://schemas.openxmlformats.org/drawingml/2006/table">
            <a:tbl>
              <a:tblPr firstRow="1" bandRow="1">
                <a:tableStyleId>{5C22544A-7EE6-4342-B048-85BDC9FD1C3A}</a:tableStyleId>
              </a:tblPr>
              <a:tblGrid>
                <a:gridCol w="2275196">
                  <a:extLst>
                    <a:ext uri="{9D8B030D-6E8A-4147-A177-3AD203B41FA5}">
                      <a16:colId xmlns:a16="http://schemas.microsoft.com/office/drawing/2014/main" val="1289272814"/>
                    </a:ext>
                  </a:extLst>
                </a:gridCol>
                <a:gridCol w="3368352">
                  <a:extLst>
                    <a:ext uri="{9D8B030D-6E8A-4147-A177-3AD203B41FA5}">
                      <a16:colId xmlns:a16="http://schemas.microsoft.com/office/drawing/2014/main" val="1462722498"/>
                    </a:ext>
                  </a:extLst>
                </a:gridCol>
              </a:tblGrid>
              <a:tr h="0">
                <a:tc>
                  <a:txBody>
                    <a:bodyPr/>
                    <a:lstStyle/>
                    <a:p>
                      <a:r>
                        <a:rPr lang="es-ES" sz="1600" dirty="0" err="1"/>
                        <a:t>Parameters</a:t>
                      </a:r>
                      <a:r>
                        <a:rPr lang="es-ES" sz="1600" dirty="0"/>
                        <a:t>: </a:t>
                      </a:r>
                    </a:p>
                  </a:txBody>
                  <a:tcPr/>
                </a:tc>
                <a:tc>
                  <a:txBody>
                    <a:bodyPr/>
                    <a:lstStyle/>
                    <a:p>
                      <a:endParaRPr lang="es-ES" sz="1600" dirty="0"/>
                    </a:p>
                  </a:txBody>
                  <a:tcPr/>
                </a:tc>
                <a:extLst>
                  <a:ext uri="{0D108BD9-81ED-4DB2-BD59-A6C34878D82A}">
                    <a16:rowId xmlns:a16="http://schemas.microsoft.com/office/drawing/2014/main" val="1051660796"/>
                  </a:ext>
                </a:extLst>
              </a:tr>
              <a:tr h="370840">
                <a:tc>
                  <a:txBody>
                    <a:bodyPr/>
                    <a:lstStyle/>
                    <a:p>
                      <a:r>
                        <a:rPr lang="es-ES" sz="1600" dirty="0"/>
                        <a:t>MMI </a:t>
                      </a:r>
                      <a:r>
                        <a:rPr lang="es-ES" sz="1600" dirty="0" err="1"/>
                        <a:t>length</a:t>
                      </a:r>
                      <a:r>
                        <a:rPr lang="es-ES" sz="1600" dirty="0"/>
                        <a:t> </a:t>
                      </a:r>
                    </a:p>
                  </a:txBody>
                  <a:tcPr/>
                </a:tc>
                <a:tc>
                  <a:txBody>
                    <a:bodyPr/>
                    <a:lstStyle/>
                    <a:p>
                      <a:r>
                        <a:rPr lang="es-ES" sz="1600" b="0" i="0" dirty="0">
                          <a:solidFill>
                            <a:schemeClr val="dk1"/>
                          </a:solidFill>
                          <a:effectLst/>
                          <a:latin typeface="+mn-lt"/>
                          <a:ea typeface="+mn-ea"/>
                          <a:cs typeface="+mn-cs"/>
                        </a:rPr>
                        <a:t>55.5273 </a:t>
                      </a:r>
                      <a:r>
                        <a:rPr lang="es-ES" sz="1600" b="0" i="0" dirty="0" err="1">
                          <a:solidFill>
                            <a:schemeClr val="dk1"/>
                          </a:solidFill>
                          <a:effectLst/>
                          <a:latin typeface="+mn-lt"/>
                          <a:ea typeface="+mn-ea"/>
                          <a:cs typeface="+mn-cs"/>
                        </a:rPr>
                        <a:t>um</a:t>
                      </a:r>
                      <a:endParaRPr lang="es-ES" sz="1600" dirty="0"/>
                    </a:p>
                  </a:txBody>
                  <a:tcPr/>
                </a:tc>
                <a:extLst>
                  <a:ext uri="{0D108BD9-81ED-4DB2-BD59-A6C34878D82A}">
                    <a16:rowId xmlns:a16="http://schemas.microsoft.com/office/drawing/2014/main" val="1035157036"/>
                  </a:ext>
                </a:extLst>
              </a:tr>
              <a:tr h="370840">
                <a:tc>
                  <a:txBody>
                    <a:bodyPr/>
                    <a:lstStyle/>
                    <a:p>
                      <a:r>
                        <a:rPr lang="es-ES" sz="1600" dirty="0"/>
                        <a:t>MMI </a:t>
                      </a:r>
                      <a:r>
                        <a:rPr lang="es-ES" sz="1600" dirty="0" err="1"/>
                        <a:t>length</a:t>
                      </a:r>
                      <a:r>
                        <a:rPr lang="es-ES" sz="1600" dirty="0"/>
                        <a:t> </a:t>
                      </a:r>
                      <a:r>
                        <a:rPr lang="es-ES" sz="1600" dirty="0" err="1"/>
                        <a:t>increment</a:t>
                      </a:r>
                      <a:endParaRPr lang="es-ES" sz="1600" dirty="0"/>
                    </a:p>
                  </a:txBody>
                  <a:tcPr/>
                </a:tc>
                <a:tc>
                  <a:txBody>
                    <a:bodyPr/>
                    <a:lstStyle/>
                    <a:p>
                      <a:r>
                        <a:rPr lang="es-ES" sz="1600" dirty="0"/>
                        <a:t>0</a:t>
                      </a:r>
                    </a:p>
                  </a:txBody>
                  <a:tcPr/>
                </a:tc>
                <a:extLst>
                  <a:ext uri="{0D108BD9-81ED-4DB2-BD59-A6C34878D82A}">
                    <a16:rowId xmlns:a16="http://schemas.microsoft.com/office/drawing/2014/main" val="952336144"/>
                  </a:ext>
                </a:extLst>
              </a:tr>
              <a:tr h="370840">
                <a:tc>
                  <a:txBody>
                    <a:bodyPr/>
                    <a:lstStyle/>
                    <a:p>
                      <a:r>
                        <a:rPr lang="es-ES" sz="1600" dirty="0"/>
                        <a:t>IO </a:t>
                      </a:r>
                      <a:r>
                        <a:rPr lang="es-ES" sz="1600" dirty="0" err="1"/>
                        <a:t>wg</a:t>
                      </a:r>
                      <a:r>
                        <a:rPr lang="es-ES" sz="1600" dirty="0"/>
                        <a:t> </a:t>
                      </a:r>
                      <a:r>
                        <a:rPr lang="es-ES" sz="1600" dirty="0" err="1"/>
                        <a:t>width</a:t>
                      </a:r>
                      <a:endParaRPr lang="es-ES" sz="1600" dirty="0"/>
                    </a:p>
                  </a:txBody>
                  <a:tcPr/>
                </a:tc>
                <a:tc>
                  <a:txBody>
                    <a:bodyPr/>
                    <a:lstStyle/>
                    <a:p>
                      <a:r>
                        <a:rPr lang="es-ES" sz="1600" dirty="0"/>
                        <a:t>1</a:t>
                      </a:r>
                    </a:p>
                  </a:txBody>
                  <a:tcPr/>
                </a:tc>
                <a:extLst>
                  <a:ext uri="{0D108BD9-81ED-4DB2-BD59-A6C34878D82A}">
                    <a16:rowId xmlns:a16="http://schemas.microsoft.com/office/drawing/2014/main" val="3217308764"/>
                  </a:ext>
                </a:extLst>
              </a:tr>
              <a:tr h="370840">
                <a:tc>
                  <a:txBody>
                    <a:bodyPr/>
                    <a:lstStyle/>
                    <a:p>
                      <a:r>
                        <a:rPr lang="es-ES" sz="1600" dirty="0"/>
                        <a:t>IO </a:t>
                      </a:r>
                      <a:r>
                        <a:rPr lang="es-ES" sz="1600" dirty="0" err="1"/>
                        <a:t>wg</a:t>
                      </a:r>
                      <a:r>
                        <a:rPr lang="es-ES" sz="1600" dirty="0"/>
                        <a:t> </a:t>
                      </a:r>
                      <a:r>
                        <a:rPr lang="es-ES" sz="1600" dirty="0" err="1"/>
                        <a:t>width</a:t>
                      </a:r>
                      <a:r>
                        <a:rPr lang="es-ES" sz="1600" dirty="0"/>
                        <a:t> </a:t>
                      </a:r>
                      <a:r>
                        <a:rPr lang="es-ES" sz="1600" dirty="0" err="1"/>
                        <a:t>increment</a:t>
                      </a:r>
                      <a:endParaRPr lang="es-ES" sz="1600" dirty="0"/>
                    </a:p>
                  </a:txBody>
                  <a:tcPr/>
                </a:tc>
                <a:tc>
                  <a:txBody>
                    <a:bodyPr/>
                    <a:lstStyle/>
                    <a:p>
                      <a:r>
                        <a:rPr lang="es-ES" sz="1600" dirty="0"/>
                        <a:t>0</a:t>
                      </a:r>
                    </a:p>
                  </a:txBody>
                  <a:tcPr/>
                </a:tc>
                <a:extLst>
                  <a:ext uri="{0D108BD9-81ED-4DB2-BD59-A6C34878D82A}">
                    <a16:rowId xmlns:a16="http://schemas.microsoft.com/office/drawing/2014/main" val="3457329804"/>
                  </a:ext>
                </a:extLst>
              </a:tr>
              <a:tr h="370840">
                <a:tc>
                  <a:txBody>
                    <a:bodyPr/>
                    <a:lstStyle/>
                    <a:p>
                      <a:r>
                        <a:rPr lang="es-ES" sz="1600" dirty="0"/>
                        <a:t>Total </a:t>
                      </a:r>
                      <a:r>
                        <a:rPr lang="es-ES" sz="1600" dirty="0" err="1"/>
                        <a:t>power</a:t>
                      </a:r>
                      <a:r>
                        <a:rPr lang="es-ES" sz="1600" dirty="0"/>
                        <a:t> IN </a:t>
                      </a:r>
                      <a:r>
                        <a:rPr lang="es-ES" sz="1600" dirty="0" err="1"/>
                        <a:t>coupled</a:t>
                      </a:r>
                      <a:endParaRPr lang="es-ES" sz="1600" dirty="0"/>
                    </a:p>
                  </a:txBody>
                  <a:tcPr/>
                </a:tc>
                <a:tc>
                  <a:txBody>
                    <a:bodyPr/>
                    <a:lstStyle/>
                    <a:p>
                      <a:r>
                        <a:rPr lang="es-ES" sz="1600" b="0" i="0" dirty="0">
                          <a:solidFill>
                            <a:schemeClr val="dk1"/>
                          </a:solidFill>
                          <a:effectLst/>
                          <a:latin typeface="+mn-lt"/>
                          <a:ea typeface="+mn-ea"/>
                          <a:cs typeface="+mn-cs"/>
                        </a:rPr>
                        <a:t>0.9627</a:t>
                      </a:r>
                      <a:endParaRPr lang="es-ES" sz="1600" dirty="0"/>
                    </a:p>
                  </a:txBody>
                  <a:tcPr/>
                </a:tc>
                <a:extLst>
                  <a:ext uri="{0D108BD9-81ED-4DB2-BD59-A6C34878D82A}">
                    <a16:rowId xmlns:a16="http://schemas.microsoft.com/office/drawing/2014/main" val="1566769035"/>
                  </a:ext>
                </a:extLst>
              </a:tr>
              <a:tr h="370840">
                <a:tc>
                  <a:txBody>
                    <a:bodyPr/>
                    <a:lstStyle/>
                    <a:p>
                      <a:r>
                        <a:rPr lang="es-ES" sz="1600" dirty="0"/>
                        <a:t>Total OUT </a:t>
                      </a:r>
                      <a:r>
                        <a:rPr lang="es-ES" sz="1600" dirty="0" err="1"/>
                        <a:t>power</a:t>
                      </a:r>
                      <a:endParaRPr lang="es-ES" sz="1600" dirty="0"/>
                    </a:p>
                  </a:txBody>
                  <a:tcPr/>
                </a:tc>
                <a:tc>
                  <a:txBody>
                    <a:bodyPr/>
                    <a:lstStyle/>
                    <a:p>
                      <a:r>
                        <a:rPr lang="es-ES" sz="1600" b="0" i="0" dirty="0">
                          <a:solidFill>
                            <a:schemeClr val="dk1"/>
                          </a:solidFill>
                          <a:effectLst/>
                          <a:latin typeface="+mn-lt"/>
                          <a:ea typeface="+mn-ea"/>
                          <a:cs typeface="+mn-cs"/>
                        </a:rPr>
                        <a:t>0.8456</a:t>
                      </a:r>
                      <a:endParaRPr lang="es-ES" sz="1600" dirty="0"/>
                    </a:p>
                  </a:txBody>
                  <a:tcPr/>
                </a:tc>
                <a:extLst>
                  <a:ext uri="{0D108BD9-81ED-4DB2-BD59-A6C34878D82A}">
                    <a16:rowId xmlns:a16="http://schemas.microsoft.com/office/drawing/2014/main" val="1195586971"/>
                  </a:ext>
                </a:extLst>
              </a:tr>
              <a:tr h="370840">
                <a:tc>
                  <a:txBody>
                    <a:bodyPr/>
                    <a:lstStyle/>
                    <a:p>
                      <a:r>
                        <a:rPr lang="es-ES" sz="1600" dirty="0" err="1"/>
                        <a:t>Excess</a:t>
                      </a:r>
                      <a:r>
                        <a:rPr lang="es-ES" sz="1600" dirty="0"/>
                        <a:t> </a:t>
                      </a:r>
                      <a:r>
                        <a:rPr lang="es-ES" sz="1600" dirty="0" err="1"/>
                        <a:t>loss</a:t>
                      </a:r>
                      <a:r>
                        <a:rPr lang="es-ES" sz="1600" dirty="0"/>
                        <a:t> [dB]</a:t>
                      </a:r>
                    </a:p>
                  </a:txBody>
                  <a:tcPr/>
                </a:tc>
                <a:tc>
                  <a:txBody>
                    <a:bodyPr/>
                    <a:lstStyle/>
                    <a:p>
                      <a:r>
                        <a:rPr lang="es-ES" sz="1600" b="0" i="0" dirty="0">
                          <a:solidFill>
                            <a:schemeClr val="dk1"/>
                          </a:solidFill>
                          <a:effectLst/>
                          <a:latin typeface="+mn-lt"/>
                          <a:ea typeface="+mn-ea"/>
                          <a:cs typeface="+mn-cs"/>
                        </a:rPr>
                        <a:t>0.7283</a:t>
                      </a:r>
                      <a:endParaRPr lang="es-ES" sz="1600" dirty="0"/>
                    </a:p>
                  </a:txBody>
                  <a:tcPr/>
                </a:tc>
                <a:extLst>
                  <a:ext uri="{0D108BD9-81ED-4DB2-BD59-A6C34878D82A}">
                    <a16:rowId xmlns:a16="http://schemas.microsoft.com/office/drawing/2014/main" val="3039394333"/>
                  </a:ext>
                </a:extLst>
              </a:tr>
              <a:tr h="370840">
                <a:tc>
                  <a:txBody>
                    <a:bodyPr/>
                    <a:lstStyle/>
                    <a:p>
                      <a:r>
                        <a:rPr lang="es-ES" sz="1600" dirty="0" err="1"/>
                        <a:t>Power</a:t>
                      </a:r>
                      <a:r>
                        <a:rPr lang="es-ES" sz="1600" dirty="0"/>
                        <a:t> </a:t>
                      </a:r>
                      <a:r>
                        <a:rPr lang="es-ES" sz="1600" dirty="0" err="1"/>
                        <a:t>over</a:t>
                      </a:r>
                      <a:r>
                        <a:rPr lang="es-ES" sz="1600" dirty="0"/>
                        <a:t> outputs</a:t>
                      </a:r>
                    </a:p>
                  </a:txBody>
                  <a:tcPr/>
                </a:tc>
                <a:tc>
                  <a:txBody>
                    <a:bodyPr/>
                    <a:lstStyle/>
                    <a:p>
                      <a:r>
                        <a:rPr lang="es-ES" sz="1600" b="0" i="0" dirty="0">
                          <a:solidFill>
                            <a:schemeClr val="dk1"/>
                          </a:solidFill>
                          <a:effectLst/>
                          <a:latin typeface="+mn-lt"/>
                          <a:ea typeface="+mn-ea"/>
                          <a:cs typeface="+mn-cs"/>
                        </a:rPr>
                        <a:t>['0.2172', '0.2055', '0.2055', '0.2174']</a:t>
                      </a:r>
                      <a:endParaRPr lang="es-ES" sz="1600" dirty="0"/>
                    </a:p>
                  </a:txBody>
                  <a:tcPr/>
                </a:tc>
                <a:extLst>
                  <a:ext uri="{0D108BD9-81ED-4DB2-BD59-A6C34878D82A}">
                    <a16:rowId xmlns:a16="http://schemas.microsoft.com/office/drawing/2014/main" val="3378388858"/>
                  </a:ext>
                </a:extLst>
              </a:tr>
              <a:tr h="370840">
                <a:tc>
                  <a:txBody>
                    <a:bodyPr/>
                    <a:lstStyle/>
                    <a:p>
                      <a:r>
                        <a:rPr lang="es-ES" sz="1600" dirty="0"/>
                        <a:t>Ratio </a:t>
                      </a:r>
                      <a:r>
                        <a:rPr lang="es-ES" sz="1600" dirty="0" err="1"/>
                        <a:t>over</a:t>
                      </a:r>
                      <a:r>
                        <a:rPr lang="es-ES" sz="1600" dirty="0"/>
                        <a:t> outputs</a:t>
                      </a:r>
                    </a:p>
                  </a:txBody>
                  <a:tcPr/>
                </a:tc>
                <a:tc>
                  <a:txBody>
                    <a:bodyPr/>
                    <a:lstStyle/>
                    <a:p>
                      <a:r>
                        <a:rPr lang="es-ES" sz="1600" b="0" i="0" dirty="0">
                          <a:solidFill>
                            <a:schemeClr val="dk1"/>
                          </a:solidFill>
                          <a:effectLst/>
                          <a:latin typeface="+mn-lt"/>
                          <a:ea typeface="+mn-ea"/>
                          <a:cs typeface="+mn-cs"/>
                        </a:rPr>
                        <a:t>['0.2569', '0.2431', '0.2431', '0.2570']</a:t>
                      </a:r>
                      <a:endParaRPr lang="es-ES" sz="1600" dirty="0"/>
                    </a:p>
                  </a:txBody>
                  <a:tcPr/>
                </a:tc>
                <a:extLst>
                  <a:ext uri="{0D108BD9-81ED-4DB2-BD59-A6C34878D82A}">
                    <a16:rowId xmlns:a16="http://schemas.microsoft.com/office/drawing/2014/main" val="1409907929"/>
                  </a:ext>
                </a:extLst>
              </a:tr>
              <a:tr h="370840">
                <a:tc>
                  <a:txBody>
                    <a:bodyPr/>
                    <a:lstStyle/>
                    <a:p>
                      <a:r>
                        <a:rPr lang="es-ES" sz="1600" dirty="0" err="1"/>
                        <a:t>dy</a:t>
                      </a:r>
                      <a:endParaRPr lang="es-ES" sz="1600" dirty="0"/>
                    </a:p>
                  </a:txBody>
                  <a:tcPr/>
                </a:tc>
                <a:tc>
                  <a:txBody>
                    <a:bodyPr/>
                    <a:lstStyle/>
                    <a:p>
                      <a:r>
                        <a:rPr lang="es-ES" sz="1600" dirty="0"/>
                        <a:t>0</a:t>
                      </a:r>
                    </a:p>
                  </a:txBody>
                  <a:tcPr/>
                </a:tc>
                <a:extLst>
                  <a:ext uri="{0D108BD9-81ED-4DB2-BD59-A6C34878D82A}">
                    <a16:rowId xmlns:a16="http://schemas.microsoft.com/office/drawing/2014/main" val="1700050508"/>
                  </a:ext>
                </a:extLst>
              </a:tr>
            </a:tbl>
          </a:graphicData>
        </a:graphic>
      </p:graphicFrame>
      <p:sp>
        <p:nvSpPr>
          <p:cNvPr id="10" name="CuadroTexto 9">
            <a:extLst>
              <a:ext uri="{FF2B5EF4-FFF2-40B4-BE49-F238E27FC236}">
                <a16:creationId xmlns:a16="http://schemas.microsoft.com/office/drawing/2014/main" id="{7A600D47-0490-DDA6-58EC-7D28F94091E0}"/>
              </a:ext>
            </a:extLst>
          </p:cNvPr>
          <p:cNvSpPr txBox="1"/>
          <p:nvPr/>
        </p:nvSpPr>
        <p:spPr>
          <a:xfrm>
            <a:off x="6072984" y="1028343"/>
            <a:ext cx="6126480" cy="4801314"/>
          </a:xfrm>
          <a:prstGeom prst="rect">
            <a:avLst/>
          </a:prstGeom>
          <a:noFill/>
        </p:spPr>
        <p:txBody>
          <a:bodyPr wrap="square">
            <a:spAutoFit/>
          </a:bodyPr>
          <a:lstStyle/>
          <a:p>
            <a:pPr algn="just">
              <a:buNone/>
            </a:pPr>
            <a:r>
              <a:rPr lang="en-US" dirty="0"/>
              <a:t>The MMI operates close to the expected 1×4 splitting condition. The output powers are approximately 0.217, 0.206, 0.206 and 0.217, corresponding to normalized ratios of about 0.257, 0.243, 0.243 and 0.257. This indicates an almost uniform power distribution among the four outputs, as expected for a symmetric 1×4 MMI splitter.</a:t>
            </a:r>
          </a:p>
          <a:p>
            <a:pPr algn="just">
              <a:buNone/>
            </a:pPr>
            <a:endParaRPr lang="en-US" dirty="0"/>
          </a:p>
          <a:p>
            <a:pPr algn="just">
              <a:buNone/>
            </a:pPr>
            <a:r>
              <a:rPr lang="en-US" dirty="0"/>
              <a:t>The simulated device length is about 55.5 µm, which corresponds to the position where the self-imaging pattern forms four replicas of the input field across the multimode region. The EME propagation profile clearly shows the progressive formation of these four images along the device, consistent with the multimode interference mechanism.</a:t>
            </a:r>
          </a:p>
          <a:p>
            <a:pPr algn="just">
              <a:buNone/>
            </a:pPr>
            <a:endParaRPr lang="en-US" dirty="0"/>
          </a:p>
          <a:p>
            <a:pPr algn="just">
              <a:buNone/>
            </a:pPr>
            <a:r>
              <a:rPr lang="en-US" dirty="0"/>
              <a:t>The coupled input power is about 0.963 while the total output power is around 0.846, resulting in an excess loss of approximately 0.73 </a:t>
            </a:r>
            <a:r>
              <a:rPr lang="en-US" dirty="0" err="1"/>
              <a:t>dB.</a:t>
            </a:r>
            <a:r>
              <a:rPr lang="en-US" dirty="0"/>
              <a:t> Not acceptable losses. </a:t>
            </a:r>
          </a:p>
        </p:txBody>
      </p:sp>
    </p:spTree>
    <p:extLst>
      <p:ext uri="{BB962C8B-B14F-4D97-AF65-F5344CB8AC3E}">
        <p14:creationId xmlns:p14="http://schemas.microsoft.com/office/powerpoint/2010/main" val="69986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F9DDE-AD5B-2C65-8ECF-9D5B8CBD3427}"/>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64AB5F4-D196-92E1-B3D6-3E375231675A}"/>
              </a:ext>
            </a:extLst>
          </p:cNvPr>
          <p:cNvSpPr txBox="1">
            <a:spLocks noGrp="1"/>
          </p:cNvSpPr>
          <p:nvPr>
            <p:ph type="title"/>
          </p:nvPr>
        </p:nvSpPr>
        <p:spPr>
          <a:xfrm>
            <a:off x="389686" y="137160"/>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1x4 Multimode Interference Coupler </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897BFDB7-C8FF-D221-C159-A5EF98F6684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76022C8-C7B2-8A4C-1B0D-B0E7407897B4}"/>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107C6BF2-2E2F-781A-FC8C-FD9985BAFE0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pic>
        <p:nvPicPr>
          <p:cNvPr id="5" name="Imagen 4">
            <a:extLst>
              <a:ext uri="{FF2B5EF4-FFF2-40B4-BE49-F238E27FC236}">
                <a16:creationId xmlns:a16="http://schemas.microsoft.com/office/drawing/2014/main" id="{671C4E2A-3E38-5130-03DD-4AF52795A773}"/>
              </a:ext>
            </a:extLst>
          </p:cNvPr>
          <p:cNvPicPr>
            <a:picLocks noChangeAspect="1"/>
          </p:cNvPicPr>
          <p:nvPr/>
        </p:nvPicPr>
        <p:blipFill>
          <a:blip r:embed="rId5"/>
          <a:stretch>
            <a:fillRect/>
          </a:stretch>
        </p:blipFill>
        <p:spPr>
          <a:xfrm>
            <a:off x="641907" y="655242"/>
            <a:ext cx="4705350" cy="1942801"/>
          </a:xfrm>
          <a:prstGeom prst="rect">
            <a:avLst/>
          </a:prstGeom>
        </p:spPr>
      </p:pic>
      <p:graphicFrame>
        <p:nvGraphicFramePr>
          <p:cNvPr id="6" name="Tabla 5">
            <a:extLst>
              <a:ext uri="{FF2B5EF4-FFF2-40B4-BE49-F238E27FC236}">
                <a16:creationId xmlns:a16="http://schemas.microsoft.com/office/drawing/2014/main" id="{4CF7CDC9-A533-9EB4-8A29-29ABA039DD7E}"/>
              </a:ext>
            </a:extLst>
          </p:cNvPr>
          <p:cNvGraphicFramePr>
            <a:graphicFrameLocks noGrp="1"/>
          </p:cNvGraphicFramePr>
          <p:nvPr>
            <p:extLst>
              <p:ext uri="{D42A27DB-BD31-4B8C-83A1-F6EECF244321}">
                <p14:modId xmlns:p14="http://schemas.microsoft.com/office/powerpoint/2010/main" val="3921274602"/>
              </p:ext>
            </p:extLst>
          </p:nvPr>
        </p:nvGraphicFramePr>
        <p:xfrm>
          <a:off x="444676" y="2598043"/>
          <a:ext cx="5643548" cy="4043680"/>
        </p:xfrm>
        <a:graphic>
          <a:graphicData uri="http://schemas.openxmlformats.org/drawingml/2006/table">
            <a:tbl>
              <a:tblPr firstRow="1" bandRow="1">
                <a:tableStyleId>{5C22544A-7EE6-4342-B048-85BDC9FD1C3A}</a:tableStyleId>
              </a:tblPr>
              <a:tblGrid>
                <a:gridCol w="2275196">
                  <a:extLst>
                    <a:ext uri="{9D8B030D-6E8A-4147-A177-3AD203B41FA5}">
                      <a16:colId xmlns:a16="http://schemas.microsoft.com/office/drawing/2014/main" val="1289272814"/>
                    </a:ext>
                  </a:extLst>
                </a:gridCol>
                <a:gridCol w="3368352">
                  <a:extLst>
                    <a:ext uri="{9D8B030D-6E8A-4147-A177-3AD203B41FA5}">
                      <a16:colId xmlns:a16="http://schemas.microsoft.com/office/drawing/2014/main" val="1462722498"/>
                    </a:ext>
                  </a:extLst>
                </a:gridCol>
              </a:tblGrid>
              <a:tr h="0">
                <a:tc>
                  <a:txBody>
                    <a:bodyPr/>
                    <a:lstStyle/>
                    <a:p>
                      <a:r>
                        <a:rPr lang="es-ES" sz="1600" dirty="0" err="1"/>
                        <a:t>Parameters</a:t>
                      </a:r>
                      <a:r>
                        <a:rPr lang="es-ES" sz="1600" dirty="0"/>
                        <a:t>: </a:t>
                      </a:r>
                    </a:p>
                  </a:txBody>
                  <a:tcPr/>
                </a:tc>
                <a:tc>
                  <a:txBody>
                    <a:bodyPr/>
                    <a:lstStyle/>
                    <a:p>
                      <a:endParaRPr lang="es-ES" sz="1600" dirty="0"/>
                    </a:p>
                  </a:txBody>
                  <a:tcPr/>
                </a:tc>
                <a:extLst>
                  <a:ext uri="{0D108BD9-81ED-4DB2-BD59-A6C34878D82A}">
                    <a16:rowId xmlns:a16="http://schemas.microsoft.com/office/drawing/2014/main" val="1051660796"/>
                  </a:ext>
                </a:extLst>
              </a:tr>
              <a:tr h="370840">
                <a:tc>
                  <a:txBody>
                    <a:bodyPr/>
                    <a:lstStyle/>
                    <a:p>
                      <a:r>
                        <a:rPr lang="es-ES" sz="1600" dirty="0"/>
                        <a:t>MMI </a:t>
                      </a:r>
                      <a:r>
                        <a:rPr lang="es-ES" sz="1600" dirty="0" err="1"/>
                        <a:t>length</a:t>
                      </a:r>
                      <a:r>
                        <a:rPr lang="es-ES" sz="1600" dirty="0"/>
                        <a:t> </a:t>
                      </a:r>
                    </a:p>
                  </a:txBody>
                  <a:tcPr/>
                </a:tc>
                <a:tc>
                  <a:txBody>
                    <a:bodyPr/>
                    <a:lstStyle/>
                    <a:p>
                      <a:r>
                        <a:rPr lang="es-ES" sz="1600" b="0" i="0" dirty="0">
                          <a:solidFill>
                            <a:schemeClr val="dk1"/>
                          </a:solidFill>
                          <a:effectLst/>
                          <a:latin typeface="+mn-lt"/>
                          <a:ea typeface="+mn-ea"/>
                          <a:cs typeface="+mn-cs"/>
                        </a:rPr>
                        <a:t>55.5273 </a:t>
                      </a:r>
                      <a:r>
                        <a:rPr lang="es-ES" sz="1600" b="0" i="0" dirty="0" err="1">
                          <a:solidFill>
                            <a:schemeClr val="dk1"/>
                          </a:solidFill>
                          <a:effectLst/>
                          <a:latin typeface="+mn-lt"/>
                          <a:ea typeface="+mn-ea"/>
                          <a:cs typeface="+mn-cs"/>
                        </a:rPr>
                        <a:t>um</a:t>
                      </a:r>
                      <a:endParaRPr lang="es-ES" sz="1600" dirty="0"/>
                    </a:p>
                  </a:txBody>
                  <a:tcPr/>
                </a:tc>
                <a:extLst>
                  <a:ext uri="{0D108BD9-81ED-4DB2-BD59-A6C34878D82A}">
                    <a16:rowId xmlns:a16="http://schemas.microsoft.com/office/drawing/2014/main" val="1035157036"/>
                  </a:ext>
                </a:extLst>
              </a:tr>
              <a:tr h="370840">
                <a:tc>
                  <a:txBody>
                    <a:bodyPr/>
                    <a:lstStyle/>
                    <a:p>
                      <a:r>
                        <a:rPr lang="es-ES" sz="1600" dirty="0"/>
                        <a:t>MMI </a:t>
                      </a:r>
                      <a:r>
                        <a:rPr lang="es-ES" sz="1600" dirty="0" err="1"/>
                        <a:t>length</a:t>
                      </a:r>
                      <a:r>
                        <a:rPr lang="es-ES" sz="1600" dirty="0"/>
                        <a:t> </a:t>
                      </a:r>
                      <a:r>
                        <a:rPr lang="es-ES" sz="1600" dirty="0" err="1"/>
                        <a:t>increment</a:t>
                      </a:r>
                      <a:endParaRPr lang="es-ES" sz="1600" dirty="0"/>
                    </a:p>
                  </a:txBody>
                  <a:tcPr/>
                </a:tc>
                <a:tc>
                  <a:txBody>
                    <a:bodyPr/>
                    <a:lstStyle/>
                    <a:p>
                      <a:r>
                        <a:rPr lang="es-ES" sz="1600" dirty="0"/>
                        <a:t>-1,3</a:t>
                      </a:r>
                    </a:p>
                  </a:txBody>
                  <a:tcPr/>
                </a:tc>
                <a:extLst>
                  <a:ext uri="{0D108BD9-81ED-4DB2-BD59-A6C34878D82A}">
                    <a16:rowId xmlns:a16="http://schemas.microsoft.com/office/drawing/2014/main" val="952336144"/>
                  </a:ext>
                </a:extLst>
              </a:tr>
              <a:tr h="370840">
                <a:tc>
                  <a:txBody>
                    <a:bodyPr/>
                    <a:lstStyle/>
                    <a:p>
                      <a:r>
                        <a:rPr lang="es-ES" sz="1600" dirty="0"/>
                        <a:t>IO </a:t>
                      </a:r>
                      <a:r>
                        <a:rPr lang="es-ES" sz="1600" dirty="0" err="1"/>
                        <a:t>wg</a:t>
                      </a:r>
                      <a:r>
                        <a:rPr lang="es-ES" sz="1600" dirty="0"/>
                        <a:t> </a:t>
                      </a:r>
                      <a:r>
                        <a:rPr lang="es-ES" sz="1600" dirty="0" err="1"/>
                        <a:t>width</a:t>
                      </a:r>
                      <a:endParaRPr lang="es-ES" sz="1600" dirty="0"/>
                    </a:p>
                  </a:txBody>
                  <a:tcPr/>
                </a:tc>
                <a:tc>
                  <a:txBody>
                    <a:bodyPr/>
                    <a:lstStyle/>
                    <a:p>
                      <a:r>
                        <a:rPr lang="es-ES" sz="1600" dirty="0"/>
                        <a:t>1</a:t>
                      </a:r>
                    </a:p>
                  </a:txBody>
                  <a:tcPr/>
                </a:tc>
                <a:extLst>
                  <a:ext uri="{0D108BD9-81ED-4DB2-BD59-A6C34878D82A}">
                    <a16:rowId xmlns:a16="http://schemas.microsoft.com/office/drawing/2014/main" val="3217308764"/>
                  </a:ext>
                </a:extLst>
              </a:tr>
              <a:tr h="370840">
                <a:tc>
                  <a:txBody>
                    <a:bodyPr/>
                    <a:lstStyle/>
                    <a:p>
                      <a:r>
                        <a:rPr lang="es-ES" sz="1600" dirty="0"/>
                        <a:t>IO </a:t>
                      </a:r>
                      <a:r>
                        <a:rPr lang="es-ES" sz="1600" dirty="0" err="1"/>
                        <a:t>wg</a:t>
                      </a:r>
                      <a:r>
                        <a:rPr lang="es-ES" sz="1600" dirty="0"/>
                        <a:t> </a:t>
                      </a:r>
                      <a:r>
                        <a:rPr lang="es-ES" sz="1600" dirty="0" err="1"/>
                        <a:t>width</a:t>
                      </a:r>
                      <a:r>
                        <a:rPr lang="es-ES" sz="1600" dirty="0"/>
                        <a:t> </a:t>
                      </a:r>
                      <a:r>
                        <a:rPr lang="es-ES" sz="1600" dirty="0" err="1"/>
                        <a:t>increment</a:t>
                      </a:r>
                      <a:endParaRPr lang="es-ES" sz="1600" dirty="0"/>
                    </a:p>
                  </a:txBody>
                  <a:tcPr/>
                </a:tc>
                <a:tc>
                  <a:txBody>
                    <a:bodyPr/>
                    <a:lstStyle/>
                    <a:p>
                      <a:r>
                        <a:rPr lang="es-ES" sz="1600" dirty="0"/>
                        <a:t>0</a:t>
                      </a:r>
                    </a:p>
                  </a:txBody>
                  <a:tcPr/>
                </a:tc>
                <a:extLst>
                  <a:ext uri="{0D108BD9-81ED-4DB2-BD59-A6C34878D82A}">
                    <a16:rowId xmlns:a16="http://schemas.microsoft.com/office/drawing/2014/main" val="3457329804"/>
                  </a:ext>
                </a:extLst>
              </a:tr>
              <a:tr h="370840">
                <a:tc>
                  <a:txBody>
                    <a:bodyPr/>
                    <a:lstStyle/>
                    <a:p>
                      <a:r>
                        <a:rPr lang="es-ES" sz="1600" dirty="0"/>
                        <a:t>Total </a:t>
                      </a:r>
                      <a:r>
                        <a:rPr lang="es-ES" sz="1600" dirty="0" err="1"/>
                        <a:t>power</a:t>
                      </a:r>
                      <a:r>
                        <a:rPr lang="es-ES" sz="1600" dirty="0"/>
                        <a:t> IN </a:t>
                      </a:r>
                      <a:r>
                        <a:rPr lang="es-ES" sz="1600" dirty="0" err="1"/>
                        <a:t>coupled</a:t>
                      </a:r>
                      <a:endParaRPr lang="es-ES" sz="1600" dirty="0"/>
                    </a:p>
                  </a:txBody>
                  <a:tcPr/>
                </a:tc>
                <a:tc>
                  <a:txBody>
                    <a:bodyPr/>
                    <a:lstStyle/>
                    <a:p>
                      <a:r>
                        <a:rPr lang="es-ES" sz="1600" b="0" i="0" dirty="0">
                          <a:solidFill>
                            <a:schemeClr val="dk1"/>
                          </a:solidFill>
                          <a:effectLst/>
                          <a:latin typeface="+mn-lt"/>
                          <a:ea typeface="+mn-ea"/>
                          <a:cs typeface="+mn-cs"/>
                        </a:rPr>
                        <a:t>0.9627</a:t>
                      </a:r>
                      <a:endParaRPr lang="es-ES" sz="1600" dirty="0"/>
                    </a:p>
                  </a:txBody>
                  <a:tcPr/>
                </a:tc>
                <a:extLst>
                  <a:ext uri="{0D108BD9-81ED-4DB2-BD59-A6C34878D82A}">
                    <a16:rowId xmlns:a16="http://schemas.microsoft.com/office/drawing/2014/main" val="1566769035"/>
                  </a:ext>
                </a:extLst>
              </a:tr>
              <a:tr h="370840">
                <a:tc>
                  <a:txBody>
                    <a:bodyPr/>
                    <a:lstStyle/>
                    <a:p>
                      <a:r>
                        <a:rPr lang="es-ES" sz="1600" dirty="0"/>
                        <a:t>Total OUT </a:t>
                      </a:r>
                      <a:r>
                        <a:rPr lang="es-ES" sz="1600" dirty="0" err="1"/>
                        <a:t>power</a:t>
                      </a:r>
                      <a:endParaRPr lang="es-ES" sz="1600" dirty="0"/>
                    </a:p>
                  </a:txBody>
                  <a:tcPr/>
                </a:tc>
                <a:tc>
                  <a:txBody>
                    <a:bodyPr/>
                    <a:lstStyle/>
                    <a:p>
                      <a:r>
                        <a:rPr lang="es-ES" sz="1600" b="0" i="0" dirty="0">
                          <a:solidFill>
                            <a:schemeClr val="dk1"/>
                          </a:solidFill>
                          <a:effectLst/>
                          <a:latin typeface="+mn-lt"/>
                          <a:ea typeface="+mn-ea"/>
                          <a:cs typeface="+mn-cs"/>
                        </a:rPr>
                        <a:t>0.9136</a:t>
                      </a:r>
                      <a:endParaRPr lang="es-ES" sz="1600" dirty="0"/>
                    </a:p>
                  </a:txBody>
                  <a:tcPr/>
                </a:tc>
                <a:extLst>
                  <a:ext uri="{0D108BD9-81ED-4DB2-BD59-A6C34878D82A}">
                    <a16:rowId xmlns:a16="http://schemas.microsoft.com/office/drawing/2014/main" val="1195586971"/>
                  </a:ext>
                </a:extLst>
              </a:tr>
              <a:tr h="370840">
                <a:tc>
                  <a:txBody>
                    <a:bodyPr/>
                    <a:lstStyle/>
                    <a:p>
                      <a:r>
                        <a:rPr lang="es-ES" sz="1600" dirty="0" err="1"/>
                        <a:t>Excess</a:t>
                      </a:r>
                      <a:r>
                        <a:rPr lang="es-ES" sz="1600" dirty="0"/>
                        <a:t> </a:t>
                      </a:r>
                      <a:r>
                        <a:rPr lang="es-ES" sz="1600" dirty="0" err="1"/>
                        <a:t>loss</a:t>
                      </a:r>
                      <a:r>
                        <a:rPr lang="es-ES" sz="1600" dirty="0"/>
                        <a:t> [dB]</a:t>
                      </a:r>
                    </a:p>
                  </a:txBody>
                  <a:tcPr/>
                </a:tc>
                <a:tc>
                  <a:txBody>
                    <a:bodyPr/>
                    <a:lstStyle/>
                    <a:p>
                      <a:r>
                        <a:rPr lang="es-ES" sz="1600" b="0" i="0" dirty="0">
                          <a:solidFill>
                            <a:schemeClr val="dk1"/>
                          </a:solidFill>
                          <a:effectLst/>
                          <a:latin typeface="+mn-lt"/>
                          <a:ea typeface="+mn-ea"/>
                          <a:cs typeface="+mn-cs"/>
                        </a:rPr>
                        <a:t>0.3926</a:t>
                      </a:r>
                      <a:endParaRPr lang="es-ES" sz="1600" dirty="0"/>
                    </a:p>
                  </a:txBody>
                  <a:tcPr/>
                </a:tc>
                <a:extLst>
                  <a:ext uri="{0D108BD9-81ED-4DB2-BD59-A6C34878D82A}">
                    <a16:rowId xmlns:a16="http://schemas.microsoft.com/office/drawing/2014/main" val="3039394333"/>
                  </a:ext>
                </a:extLst>
              </a:tr>
              <a:tr h="370840">
                <a:tc>
                  <a:txBody>
                    <a:bodyPr/>
                    <a:lstStyle/>
                    <a:p>
                      <a:r>
                        <a:rPr lang="es-ES" sz="1600" dirty="0" err="1"/>
                        <a:t>Power</a:t>
                      </a:r>
                      <a:r>
                        <a:rPr lang="es-ES" sz="1600" dirty="0"/>
                        <a:t> </a:t>
                      </a:r>
                      <a:r>
                        <a:rPr lang="es-ES" sz="1600" dirty="0" err="1"/>
                        <a:t>over</a:t>
                      </a:r>
                      <a:r>
                        <a:rPr lang="es-ES" sz="1600" dirty="0"/>
                        <a:t> outputs</a:t>
                      </a:r>
                    </a:p>
                  </a:txBody>
                  <a:tcPr/>
                </a:tc>
                <a:tc>
                  <a:txBody>
                    <a:bodyPr/>
                    <a:lstStyle/>
                    <a:p>
                      <a:r>
                        <a:rPr lang="es-ES" sz="1600" b="0" i="0" dirty="0">
                          <a:solidFill>
                            <a:schemeClr val="dk1"/>
                          </a:solidFill>
                          <a:effectLst/>
                          <a:latin typeface="+mn-lt"/>
                          <a:ea typeface="+mn-ea"/>
                          <a:cs typeface="+mn-cs"/>
                        </a:rPr>
                        <a:t>['0.2320', '0.2247', '0.2247', '0.2322']</a:t>
                      </a:r>
                      <a:endParaRPr lang="es-ES" sz="1600" dirty="0"/>
                    </a:p>
                  </a:txBody>
                  <a:tcPr/>
                </a:tc>
                <a:extLst>
                  <a:ext uri="{0D108BD9-81ED-4DB2-BD59-A6C34878D82A}">
                    <a16:rowId xmlns:a16="http://schemas.microsoft.com/office/drawing/2014/main" val="3378388858"/>
                  </a:ext>
                </a:extLst>
              </a:tr>
              <a:tr h="370840">
                <a:tc>
                  <a:txBody>
                    <a:bodyPr/>
                    <a:lstStyle/>
                    <a:p>
                      <a:r>
                        <a:rPr lang="es-ES" sz="1600" dirty="0"/>
                        <a:t>Ratio </a:t>
                      </a:r>
                      <a:r>
                        <a:rPr lang="es-ES" sz="1600" dirty="0" err="1"/>
                        <a:t>over</a:t>
                      </a:r>
                      <a:r>
                        <a:rPr lang="es-ES" sz="1600" dirty="0"/>
                        <a:t> outputs</a:t>
                      </a:r>
                    </a:p>
                  </a:txBody>
                  <a:tcPr/>
                </a:tc>
                <a:tc>
                  <a:txBody>
                    <a:bodyPr/>
                    <a:lstStyle/>
                    <a:p>
                      <a:r>
                        <a:rPr lang="es-ES" sz="1600" b="0" i="0" dirty="0">
                          <a:solidFill>
                            <a:schemeClr val="dk1"/>
                          </a:solidFill>
                          <a:effectLst/>
                          <a:latin typeface="+mn-lt"/>
                          <a:ea typeface="+mn-ea"/>
                          <a:cs typeface="+mn-cs"/>
                        </a:rPr>
                        <a:t>['0.2539', '0.2460', '0.2460', '0.2541']</a:t>
                      </a:r>
                      <a:endParaRPr lang="es-ES" sz="1600" dirty="0"/>
                    </a:p>
                  </a:txBody>
                  <a:tcPr/>
                </a:tc>
                <a:extLst>
                  <a:ext uri="{0D108BD9-81ED-4DB2-BD59-A6C34878D82A}">
                    <a16:rowId xmlns:a16="http://schemas.microsoft.com/office/drawing/2014/main" val="1409907929"/>
                  </a:ext>
                </a:extLst>
              </a:tr>
              <a:tr h="370840">
                <a:tc>
                  <a:txBody>
                    <a:bodyPr/>
                    <a:lstStyle/>
                    <a:p>
                      <a:r>
                        <a:rPr lang="es-ES" sz="1600" dirty="0" err="1"/>
                        <a:t>dy</a:t>
                      </a:r>
                      <a:endParaRPr lang="es-ES" sz="1600" dirty="0"/>
                    </a:p>
                  </a:txBody>
                  <a:tcPr/>
                </a:tc>
                <a:tc>
                  <a:txBody>
                    <a:bodyPr/>
                    <a:lstStyle/>
                    <a:p>
                      <a:r>
                        <a:rPr lang="es-ES" sz="1600" dirty="0"/>
                        <a:t>0,1</a:t>
                      </a:r>
                    </a:p>
                  </a:txBody>
                  <a:tcPr/>
                </a:tc>
                <a:extLst>
                  <a:ext uri="{0D108BD9-81ED-4DB2-BD59-A6C34878D82A}">
                    <a16:rowId xmlns:a16="http://schemas.microsoft.com/office/drawing/2014/main" val="1700050508"/>
                  </a:ext>
                </a:extLst>
              </a:tr>
            </a:tbl>
          </a:graphicData>
        </a:graphic>
      </p:graphicFrame>
      <p:sp>
        <p:nvSpPr>
          <p:cNvPr id="4" name="CuadroTexto 3">
            <a:extLst>
              <a:ext uri="{FF2B5EF4-FFF2-40B4-BE49-F238E27FC236}">
                <a16:creationId xmlns:a16="http://schemas.microsoft.com/office/drawing/2014/main" id="{CCFB36CC-EAF6-1668-C5EF-BB7FC4A8CEA6}"/>
              </a:ext>
            </a:extLst>
          </p:cNvPr>
          <p:cNvSpPr txBox="1"/>
          <p:nvPr/>
        </p:nvSpPr>
        <p:spPr>
          <a:xfrm>
            <a:off x="6188346" y="1483602"/>
            <a:ext cx="5912515" cy="4247317"/>
          </a:xfrm>
          <a:prstGeom prst="rect">
            <a:avLst/>
          </a:prstGeom>
          <a:noFill/>
        </p:spPr>
        <p:txBody>
          <a:bodyPr wrap="square">
            <a:spAutoFit/>
          </a:bodyPr>
          <a:lstStyle/>
          <a:p>
            <a:pPr algn="just">
              <a:buNone/>
            </a:pPr>
            <a:r>
              <a:rPr lang="en-US" dirty="0"/>
              <a:t>To improve the power balance and reduce excess loss, a manual optimization of the MMI geometry was performed. In this case the MMI length was shortened by 1.3 µm and a small port displacement of </a:t>
            </a:r>
            <a:r>
              <a:rPr lang="en-US" dirty="0" err="1"/>
              <a:t>dy</a:t>
            </a:r>
            <a:r>
              <a:rPr lang="en-US" dirty="0"/>
              <a:t> = 0.1 µm was introduced, while keeping the I/O waveguide width at 1 µm.</a:t>
            </a:r>
          </a:p>
          <a:p>
            <a:pPr algn="just">
              <a:buNone/>
            </a:pPr>
            <a:endParaRPr lang="en-US" dirty="0"/>
          </a:p>
          <a:p>
            <a:pPr algn="just">
              <a:buNone/>
            </a:pPr>
            <a:r>
              <a:rPr lang="en-US" dirty="0"/>
              <a:t>The optimized configuration shows a more uniform power distribution, with output powers of about 0.232, 0.225, 0.225 and 0.232, corresponding to ratios of approximately 0.254, 0.246, 0.246 and 0.254. The coupled input power is about 0.963 and the total output power increases to about 0.914, reducing the excess loss to around 0.39 </a:t>
            </a:r>
            <a:r>
              <a:rPr lang="en-US" dirty="0" err="1"/>
              <a:t>dB.</a:t>
            </a:r>
            <a:endParaRPr lang="en-US" dirty="0"/>
          </a:p>
          <a:p>
            <a:pPr algn="just">
              <a:buNone/>
            </a:pPr>
            <a:endParaRPr lang="en-US" dirty="0"/>
          </a:p>
          <a:p>
            <a:pPr algn="just">
              <a:buNone/>
            </a:pPr>
            <a:r>
              <a:rPr lang="en-US" dirty="0"/>
              <a:t>The EME propagation profile also shows a clearer overlap between the self-images and the output ports. </a:t>
            </a:r>
          </a:p>
        </p:txBody>
      </p:sp>
    </p:spTree>
    <p:extLst>
      <p:ext uri="{BB962C8B-B14F-4D97-AF65-F5344CB8AC3E}">
        <p14:creationId xmlns:p14="http://schemas.microsoft.com/office/powerpoint/2010/main" val="2496537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D86B-6682-A5AA-DD75-7C8A7CC435F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0AE6F7AF-BD48-6388-25D8-11188ADE49B0}"/>
              </a:ext>
            </a:extLst>
          </p:cNvPr>
          <p:cNvSpPr txBox="1">
            <a:spLocks noGrp="1"/>
          </p:cNvSpPr>
          <p:nvPr>
            <p:ph type="title"/>
          </p:nvPr>
        </p:nvSpPr>
        <p:spPr>
          <a:xfrm>
            <a:off x="389686" y="137160"/>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1x4 Multimode Interference Coupler </a:t>
            </a:r>
            <a:br>
              <a:rPr lang="en-US" sz="2500" dirty="0"/>
            </a:br>
            <a:endParaRPr lang="en-US" sz="2500" b="0" dirty="0">
              <a:latin typeface="+mj-lt"/>
              <a:cs typeface="Lucida Sans"/>
            </a:endParaRPr>
          </a:p>
        </p:txBody>
      </p:sp>
      <p:pic>
        <p:nvPicPr>
          <p:cNvPr id="83" name="Gráfico 82">
            <a:extLst>
              <a:ext uri="{FF2B5EF4-FFF2-40B4-BE49-F238E27FC236}">
                <a16:creationId xmlns:a16="http://schemas.microsoft.com/office/drawing/2014/main" id="{AB316BBA-FF71-632A-E1E7-2AD0F8DFC1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B8382F0-8C30-B3DF-FD1E-8540FE76C5DD}"/>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B6CA73AF-167B-0566-BF77-7079F082A58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graphicFrame>
        <p:nvGraphicFramePr>
          <p:cNvPr id="2" name="Tabla 1">
            <a:extLst>
              <a:ext uri="{FF2B5EF4-FFF2-40B4-BE49-F238E27FC236}">
                <a16:creationId xmlns:a16="http://schemas.microsoft.com/office/drawing/2014/main" id="{C06D4B70-299D-B056-3AE0-FC2CE5B6BB70}"/>
              </a:ext>
            </a:extLst>
          </p:cNvPr>
          <p:cNvGraphicFramePr>
            <a:graphicFrameLocks noGrp="1"/>
          </p:cNvGraphicFramePr>
          <p:nvPr>
            <p:extLst>
              <p:ext uri="{D42A27DB-BD31-4B8C-83A1-F6EECF244321}">
                <p14:modId xmlns:p14="http://schemas.microsoft.com/office/powerpoint/2010/main" val="1060104737"/>
              </p:ext>
            </p:extLst>
          </p:nvPr>
        </p:nvGraphicFramePr>
        <p:xfrm>
          <a:off x="152400" y="685800"/>
          <a:ext cx="7162801" cy="1985210"/>
        </p:xfrm>
        <a:graphic>
          <a:graphicData uri="http://schemas.openxmlformats.org/drawingml/2006/table">
            <a:tbl>
              <a:tblPr firstRow="1" bandRow="1">
                <a:tableStyleId>{5C22544A-7EE6-4342-B048-85BDC9FD1C3A}</a:tableStyleId>
              </a:tblPr>
              <a:tblGrid>
                <a:gridCol w="1715037">
                  <a:extLst>
                    <a:ext uri="{9D8B030D-6E8A-4147-A177-3AD203B41FA5}">
                      <a16:colId xmlns:a16="http://schemas.microsoft.com/office/drawing/2014/main" val="1289272814"/>
                    </a:ext>
                  </a:extLst>
                </a:gridCol>
                <a:gridCol w="1916806">
                  <a:extLst>
                    <a:ext uri="{9D8B030D-6E8A-4147-A177-3AD203B41FA5}">
                      <a16:colId xmlns:a16="http://schemas.microsoft.com/office/drawing/2014/main" val="1462722498"/>
                    </a:ext>
                  </a:extLst>
                </a:gridCol>
                <a:gridCol w="3530958">
                  <a:extLst>
                    <a:ext uri="{9D8B030D-6E8A-4147-A177-3AD203B41FA5}">
                      <a16:colId xmlns:a16="http://schemas.microsoft.com/office/drawing/2014/main" val="2078518157"/>
                    </a:ext>
                  </a:extLst>
                </a:gridCol>
              </a:tblGrid>
              <a:tr h="0">
                <a:tc>
                  <a:txBody>
                    <a:bodyPr/>
                    <a:lstStyle/>
                    <a:p>
                      <a:r>
                        <a:rPr lang="es-ES" sz="1600" dirty="0"/>
                        <a:t>IO </a:t>
                      </a:r>
                      <a:r>
                        <a:rPr lang="es-ES" sz="1600" dirty="0" err="1"/>
                        <a:t>wg</a:t>
                      </a:r>
                      <a:r>
                        <a:rPr lang="es-ES" sz="1600" dirty="0"/>
                        <a:t> </a:t>
                      </a:r>
                      <a:r>
                        <a:rPr lang="es-ES" sz="1600" dirty="0" err="1"/>
                        <a:t>width</a:t>
                      </a:r>
                      <a:r>
                        <a:rPr lang="es-ES" sz="1600" dirty="0"/>
                        <a:t> </a:t>
                      </a:r>
                      <a:r>
                        <a:rPr lang="es-ES" sz="1600" dirty="0" err="1"/>
                        <a:t>increment</a:t>
                      </a:r>
                      <a:endParaRPr lang="es-ES" sz="1600" dirty="0"/>
                    </a:p>
                  </a:txBody>
                  <a:tcPr/>
                </a:tc>
                <a:tc>
                  <a:txBody>
                    <a:bodyPr/>
                    <a:lstStyle/>
                    <a:p>
                      <a:r>
                        <a:rPr lang="es-ES" sz="1600" dirty="0" err="1"/>
                        <a:t>Excess</a:t>
                      </a:r>
                      <a:r>
                        <a:rPr lang="es-ES" sz="1600" dirty="0"/>
                        <a:t> los [dB]</a:t>
                      </a:r>
                    </a:p>
                  </a:txBody>
                  <a:tcPr/>
                </a:tc>
                <a:tc>
                  <a:txBody>
                    <a:bodyPr/>
                    <a:lstStyle/>
                    <a:p>
                      <a:r>
                        <a:rPr lang="es-ES" sz="1600" dirty="0"/>
                        <a:t>Ratio </a:t>
                      </a:r>
                      <a:r>
                        <a:rPr lang="es-ES" sz="1600" dirty="0" err="1"/>
                        <a:t>over</a:t>
                      </a:r>
                      <a:r>
                        <a:rPr lang="es-ES" sz="1600" dirty="0"/>
                        <a:t> outputs</a:t>
                      </a:r>
                    </a:p>
                  </a:txBody>
                  <a:tcPr/>
                </a:tc>
                <a:extLst>
                  <a:ext uri="{0D108BD9-81ED-4DB2-BD59-A6C34878D82A}">
                    <a16:rowId xmlns:a16="http://schemas.microsoft.com/office/drawing/2014/main" val="1051660796"/>
                  </a:ext>
                </a:extLst>
              </a:tr>
              <a:tr h="235499">
                <a:tc>
                  <a:txBody>
                    <a:bodyPr/>
                    <a:lstStyle/>
                    <a:p>
                      <a:r>
                        <a:rPr lang="es-ES" sz="1600" dirty="0"/>
                        <a:t>0,6 </a:t>
                      </a:r>
                      <a:r>
                        <a:rPr lang="es-ES" sz="1600" dirty="0" err="1"/>
                        <a:t>um</a:t>
                      </a:r>
                      <a:endParaRPr lang="es-ES" sz="1600" dirty="0"/>
                    </a:p>
                  </a:txBody>
                  <a:tcPr/>
                </a:tc>
                <a:tc>
                  <a:txBody>
                    <a:bodyPr/>
                    <a:lstStyle/>
                    <a:p>
                      <a:r>
                        <a:rPr lang="es-ES" sz="1600" b="0" i="0" dirty="0">
                          <a:solidFill>
                            <a:schemeClr val="dk1"/>
                          </a:solidFill>
                          <a:effectLst/>
                          <a:latin typeface="+mn-lt"/>
                          <a:ea typeface="+mn-ea"/>
                          <a:cs typeface="+mn-cs"/>
                        </a:rPr>
                        <a:t>0.1081</a:t>
                      </a:r>
                      <a:endParaRPr lang="es-ES" sz="1600" dirty="0"/>
                    </a:p>
                  </a:txBody>
                  <a:tcPr/>
                </a:tc>
                <a:tc>
                  <a:txBody>
                    <a:bodyPr/>
                    <a:lstStyle/>
                    <a:p>
                      <a:r>
                        <a:rPr lang="es-ES" sz="1600" b="0" i="0" dirty="0">
                          <a:solidFill>
                            <a:schemeClr val="dk1"/>
                          </a:solidFill>
                          <a:effectLst/>
                          <a:latin typeface="+mn-lt"/>
                          <a:ea typeface="+mn-ea"/>
                          <a:cs typeface="+mn-cs"/>
                        </a:rPr>
                        <a:t>['0.2528', '0.2471', '0.2471', '0.2530']</a:t>
                      </a:r>
                      <a:endParaRPr lang="es-ES" sz="1600" dirty="0"/>
                    </a:p>
                  </a:txBody>
                  <a:tcPr/>
                </a:tc>
                <a:extLst>
                  <a:ext uri="{0D108BD9-81ED-4DB2-BD59-A6C34878D82A}">
                    <a16:rowId xmlns:a16="http://schemas.microsoft.com/office/drawing/2014/main" val="1035157036"/>
                  </a:ext>
                </a:extLst>
              </a:tr>
              <a:tr h="367765">
                <a:tc>
                  <a:txBody>
                    <a:bodyPr/>
                    <a:lstStyle/>
                    <a:p>
                      <a:r>
                        <a:rPr lang="es-ES" sz="1600" dirty="0"/>
                        <a:t>0,8 </a:t>
                      </a:r>
                      <a:r>
                        <a:rPr lang="es-ES" sz="1600" dirty="0" err="1"/>
                        <a:t>um</a:t>
                      </a:r>
                      <a:endParaRPr lang="es-ES" sz="1600" dirty="0"/>
                    </a:p>
                  </a:txBody>
                  <a:tcPr/>
                </a:tc>
                <a:tc>
                  <a:txBody>
                    <a:bodyPr/>
                    <a:lstStyle/>
                    <a:p>
                      <a:r>
                        <a:rPr lang="es-ES" sz="1600" b="0" i="0" dirty="0">
                          <a:solidFill>
                            <a:schemeClr val="dk1"/>
                          </a:solidFill>
                          <a:effectLst/>
                          <a:latin typeface="+mn-lt"/>
                          <a:ea typeface="+mn-ea"/>
                          <a:cs typeface="+mn-cs"/>
                        </a:rPr>
                        <a:t>0.0588</a:t>
                      </a:r>
                      <a:endParaRPr lang="es-ES" sz="1600" dirty="0"/>
                    </a:p>
                  </a:txBody>
                  <a:tcPr/>
                </a:tc>
                <a:tc>
                  <a:txBody>
                    <a:bodyPr/>
                    <a:lstStyle/>
                    <a:p>
                      <a:r>
                        <a:rPr lang="es-ES" sz="1600" b="0" i="0" dirty="0">
                          <a:solidFill>
                            <a:schemeClr val="dk1"/>
                          </a:solidFill>
                          <a:effectLst/>
                          <a:latin typeface="+mn-lt"/>
                          <a:ea typeface="+mn-ea"/>
                          <a:cs typeface="+mn-cs"/>
                        </a:rPr>
                        <a:t>['0.2518', '0.2481', '0.2481', '0.2520']</a:t>
                      </a:r>
                      <a:endParaRPr lang="es-ES" sz="1600" dirty="0"/>
                    </a:p>
                  </a:txBody>
                  <a:tcPr/>
                </a:tc>
                <a:extLst>
                  <a:ext uri="{0D108BD9-81ED-4DB2-BD59-A6C34878D82A}">
                    <a16:rowId xmlns:a16="http://schemas.microsoft.com/office/drawing/2014/main" val="952336144"/>
                  </a:ext>
                </a:extLst>
              </a:tr>
              <a:tr h="235499">
                <a:tc>
                  <a:txBody>
                    <a:bodyPr/>
                    <a:lstStyle/>
                    <a:p>
                      <a:r>
                        <a:rPr lang="es-ES" sz="1600" dirty="0"/>
                        <a:t>1 </a:t>
                      </a:r>
                      <a:r>
                        <a:rPr lang="es-ES" sz="1600" dirty="0" err="1"/>
                        <a:t>um</a:t>
                      </a:r>
                      <a:endParaRPr lang="es-ES" sz="1600" dirty="0"/>
                    </a:p>
                  </a:txBody>
                  <a:tcPr/>
                </a:tc>
                <a:tc>
                  <a:txBody>
                    <a:bodyPr/>
                    <a:lstStyle/>
                    <a:p>
                      <a:r>
                        <a:rPr lang="es-ES" sz="1600" b="0" i="0" dirty="0">
                          <a:solidFill>
                            <a:schemeClr val="dk1"/>
                          </a:solidFill>
                          <a:effectLst/>
                          <a:latin typeface="+mn-lt"/>
                          <a:ea typeface="+mn-ea"/>
                          <a:cs typeface="+mn-cs"/>
                        </a:rPr>
                        <a:t>0.0274</a:t>
                      </a:r>
                      <a:endParaRPr lang="es-ES" sz="1600" dirty="0"/>
                    </a:p>
                  </a:txBody>
                  <a:tcPr/>
                </a:tc>
                <a:tc>
                  <a:txBody>
                    <a:bodyPr/>
                    <a:lstStyle/>
                    <a:p>
                      <a:r>
                        <a:rPr lang="es-ES" sz="1600" b="0" i="0" dirty="0">
                          <a:solidFill>
                            <a:schemeClr val="dk1"/>
                          </a:solidFill>
                          <a:effectLst/>
                          <a:latin typeface="+mn-lt"/>
                          <a:ea typeface="+mn-ea"/>
                          <a:cs typeface="+mn-cs"/>
                        </a:rPr>
                        <a:t>['0.2506', '0.2493', '0.2493', '0.2508']</a:t>
                      </a:r>
                      <a:endParaRPr lang="es-ES" sz="1600" dirty="0"/>
                    </a:p>
                  </a:txBody>
                  <a:tcPr/>
                </a:tc>
                <a:extLst>
                  <a:ext uri="{0D108BD9-81ED-4DB2-BD59-A6C34878D82A}">
                    <a16:rowId xmlns:a16="http://schemas.microsoft.com/office/drawing/2014/main" val="3217308764"/>
                  </a:ext>
                </a:extLst>
              </a:tr>
              <a:tr h="367765">
                <a:tc>
                  <a:txBody>
                    <a:bodyPr/>
                    <a:lstStyle/>
                    <a:p>
                      <a:r>
                        <a:rPr lang="es-ES" sz="1600" dirty="0"/>
                        <a:t>1,2 </a:t>
                      </a:r>
                      <a:r>
                        <a:rPr lang="es-ES" sz="1600" dirty="0" err="1"/>
                        <a:t>um</a:t>
                      </a:r>
                      <a:endParaRPr lang="es-ES" sz="1600" dirty="0"/>
                    </a:p>
                  </a:txBody>
                  <a:tcPr/>
                </a:tc>
                <a:tc>
                  <a:txBody>
                    <a:bodyPr/>
                    <a:lstStyle/>
                    <a:p>
                      <a:r>
                        <a:rPr lang="es-ES" sz="1600" b="0" i="0" dirty="0">
                          <a:solidFill>
                            <a:schemeClr val="dk1"/>
                          </a:solidFill>
                          <a:effectLst/>
                          <a:latin typeface="+mn-lt"/>
                          <a:ea typeface="+mn-ea"/>
                          <a:cs typeface="+mn-cs"/>
                        </a:rPr>
                        <a:t>0.0166</a:t>
                      </a:r>
                      <a:endParaRPr lang="es-ES" sz="1600" dirty="0"/>
                    </a:p>
                  </a:txBody>
                  <a:tcPr/>
                </a:tc>
                <a:tc>
                  <a:txBody>
                    <a:bodyPr/>
                    <a:lstStyle/>
                    <a:p>
                      <a:r>
                        <a:rPr lang="es-ES" sz="1600" b="0" i="0" dirty="0">
                          <a:solidFill>
                            <a:schemeClr val="dk1"/>
                          </a:solidFill>
                          <a:effectLst/>
                          <a:latin typeface="+mn-lt"/>
                          <a:ea typeface="+mn-ea"/>
                          <a:cs typeface="+mn-cs"/>
                        </a:rPr>
                        <a:t>['0.2494', '0.2505', '0.2505', '0.2496']</a:t>
                      </a:r>
                      <a:endParaRPr lang="es-ES" sz="1600" dirty="0"/>
                    </a:p>
                  </a:txBody>
                  <a:tcPr/>
                </a:tc>
                <a:extLst>
                  <a:ext uri="{0D108BD9-81ED-4DB2-BD59-A6C34878D82A}">
                    <a16:rowId xmlns:a16="http://schemas.microsoft.com/office/drawing/2014/main" val="3457329804"/>
                  </a:ext>
                </a:extLst>
              </a:tr>
            </a:tbl>
          </a:graphicData>
        </a:graphic>
      </p:graphicFrame>
      <p:pic>
        <p:nvPicPr>
          <p:cNvPr id="7" name="Imagen 6">
            <a:extLst>
              <a:ext uri="{FF2B5EF4-FFF2-40B4-BE49-F238E27FC236}">
                <a16:creationId xmlns:a16="http://schemas.microsoft.com/office/drawing/2014/main" id="{189ECE10-F9EE-B257-DC8A-5F65024875DA}"/>
              </a:ext>
            </a:extLst>
          </p:cNvPr>
          <p:cNvPicPr>
            <a:picLocks noChangeAspect="1"/>
          </p:cNvPicPr>
          <p:nvPr/>
        </p:nvPicPr>
        <p:blipFill>
          <a:blip r:embed="rId5"/>
          <a:stretch>
            <a:fillRect/>
          </a:stretch>
        </p:blipFill>
        <p:spPr>
          <a:xfrm>
            <a:off x="609600" y="3375647"/>
            <a:ext cx="5877880" cy="2457650"/>
          </a:xfrm>
          <a:prstGeom prst="rect">
            <a:avLst/>
          </a:prstGeom>
        </p:spPr>
      </p:pic>
      <p:sp>
        <p:nvSpPr>
          <p:cNvPr id="9" name="CuadroTexto 8">
            <a:extLst>
              <a:ext uri="{FF2B5EF4-FFF2-40B4-BE49-F238E27FC236}">
                <a16:creationId xmlns:a16="http://schemas.microsoft.com/office/drawing/2014/main" id="{34DEBF21-D73B-620E-7F5A-73B417A45356}"/>
              </a:ext>
            </a:extLst>
          </p:cNvPr>
          <p:cNvSpPr txBox="1"/>
          <p:nvPr/>
        </p:nvSpPr>
        <p:spPr>
          <a:xfrm>
            <a:off x="7467600" y="987028"/>
            <a:ext cx="4489247" cy="4801314"/>
          </a:xfrm>
          <a:prstGeom prst="rect">
            <a:avLst/>
          </a:prstGeom>
          <a:noFill/>
        </p:spPr>
        <p:txBody>
          <a:bodyPr wrap="square">
            <a:spAutoFit/>
          </a:bodyPr>
          <a:lstStyle/>
          <a:p>
            <a:pPr algn="just">
              <a:buNone/>
            </a:pPr>
            <a:r>
              <a:rPr lang="en-US" dirty="0"/>
              <a:t>In this stage the width of the input and output waveguides was increased while keeping the optimized MMI length, port displacement and multimode width fixed.</a:t>
            </a:r>
          </a:p>
          <a:p>
            <a:pPr algn="just">
              <a:buNone/>
            </a:pPr>
            <a:endParaRPr lang="en-US" dirty="0"/>
          </a:p>
          <a:p>
            <a:pPr algn="just">
              <a:buNone/>
            </a:pPr>
            <a:r>
              <a:rPr lang="en-US" dirty="0"/>
              <a:t>The results show a clear reduction in excess loss as the I/O width increases. The loss decreases from about 0.108 dB for a width of 0.6 µm to around 0.0166 dB for 1.2 µm. </a:t>
            </a:r>
          </a:p>
          <a:p>
            <a:pPr algn="just">
              <a:buNone/>
            </a:pPr>
            <a:endParaRPr lang="en-US" dirty="0"/>
          </a:p>
          <a:p>
            <a:pPr algn="just">
              <a:buNone/>
            </a:pPr>
            <a:r>
              <a:rPr lang="en-US" dirty="0"/>
              <a:t>The power distribution among the four outputs remains very stable during the sweep. The output ratios stay close to 0.25 for each port. The EME propagation profile also shows a smooth formation of the four self-images and good alignment with the output ports.</a:t>
            </a:r>
          </a:p>
        </p:txBody>
      </p:sp>
    </p:spTree>
    <p:extLst>
      <p:ext uri="{BB962C8B-B14F-4D97-AF65-F5344CB8AC3E}">
        <p14:creationId xmlns:p14="http://schemas.microsoft.com/office/powerpoint/2010/main" val="1915705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20</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1167</TotalTime>
  <Words>2731</Words>
  <Application>Microsoft Office PowerPoint</Application>
  <PresentationFormat>Panorámica</PresentationFormat>
  <Paragraphs>417</Paragraphs>
  <Slides>20</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Aptos</vt:lpstr>
      <vt:lpstr>Arial</vt:lpstr>
      <vt:lpstr>Calibri</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length and coupling coefficient Wavelength 1.5 µm – width 1.2 µm – gap 0.6 µm</vt:lpstr>
      <vt:lpstr>Learning outcome #2 – 2x2 Directional Coupler </vt:lpstr>
      <vt:lpstr>Learning outcome #2 – 2x2 Directional Coupler </vt:lpstr>
      <vt:lpstr>Learning outcome #2 – 2x2 Directional Coupler </vt:lpstr>
      <vt:lpstr>Learning outcome #2 – 2x2 Directional Coupler </vt:lpstr>
      <vt:lpstr>Learning outcome #2 – 2x2 Directional Coupler </vt:lpstr>
      <vt:lpstr>Learning outcome #2 – 2x2 Directional Coupler </vt:lpstr>
      <vt:lpstr>Learning outcome #2 – 2x2 Directional Coupler </vt:lpstr>
      <vt:lpstr>Learning outcome #3 – Parallel uncoupled waveguides </vt:lpstr>
      <vt:lpstr>Presentación de PowerPoint</vt:lpstr>
      <vt:lpstr>Learning outcome #4 – 4.1 2x2 Multimode Interference Coupler </vt:lpstr>
      <vt:lpstr>Learning outcome #4.2 – 2x2 Multimode Interference Coupler - Optimization</vt:lpstr>
      <vt:lpstr>Learning outcome #4.3 – 2x2 Multimode Interference Coupler – Optimization (II) </vt:lpstr>
      <vt:lpstr>Learning outcome #5 – 1x4 Multimode Interference Coupler  </vt:lpstr>
      <vt:lpstr>Learning outcome #5 – 1x4 Multimode Interference Coupler  </vt:lpstr>
      <vt:lpstr>Learning outcome #5 – 1x4 Multimode Interference Coupler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Maria Romero Garcia</cp:lastModifiedBy>
  <cp:revision>13</cp:revision>
  <dcterms:created xsi:type="dcterms:W3CDTF">2025-01-27T02:46:57Z</dcterms:created>
  <dcterms:modified xsi:type="dcterms:W3CDTF">2026-03-14T00:21:09Z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