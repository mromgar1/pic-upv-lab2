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8"/>
  </p:notesMasterIdLst>
  <p:handoutMasterIdLst>
    <p:handoutMasterId r:id="rId19"/>
  </p:handoutMasterIdLst>
  <p:sldIdLst>
    <p:sldId id="256" r:id="rId2"/>
    <p:sldId id="289" r:id="rId3"/>
    <p:sldId id="295" r:id="rId4"/>
    <p:sldId id="302" r:id="rId5"/>
    <p:sldId id="303" r:id="rId6"/>
    <p:sldId id="291" r:id="rId7"/>
    <p:sldId id="296" r:id="rId8"/>
    <p:sldId id="294" r:id="rId9"/>
    <p:sldId id="299" r:id="rId10"/>
    <p:sldId id="300" r:id="rId11"/>
    <p:sldId id="301" r:id="rId12"/>
    <p:sldId id="297" r:id="rId13"/>
    <p:sldId id="290" r:id="rId14"/>
    <p:sldId id="292" r:id="rId15"/>
    <p:sldId id="298" r:id="rId16"/>
    <p:sldId id="288" r:id="rId17"/>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51" d="100"/>
          <a:sy n="51" d="100"/>
        </p:scale>
        <p:origin x="67" y="758"/>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10/03/2026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10/03/2026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https://github.com/cccanvas-upv/pic-upv-lab2.git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length and coupling coefficient</a:t>
            </a:r>
            <a:br>
              <a:rPr lang="en-US" sz="2500" spc="-5" dirty="0">
                <a:latin typeface="+mj-lt"/>
                <a:cs typeface="Lucida Sans"/>
              </a:rPr>
            </a:br>
            <a:r>
              <a:rPr lang="en-US" b="0" dirty="0"/>
              <a:t>Wavelength 1.5 µm – width 1.2 µm – gap 0.6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pic>
        <p:nvPicPr>
          <p:cNvPr id="5" name="Imagen 4">
            <a:extLst>
              <a:ext uri="{FF2B5EF4-FFF2-40B4-BE49-F238E27FC236}">
                <a16:creationId xmlns:a16="http://schemas.microsoft.com/office/drawing/2014/main" id="{08A8C6FD-A996-B508-D1EB-E8F1651B4E1A}"/>
              </a:ext>
            </a:extLst>
          </p:cNvPr>
          <p:cNvPicPr>
            <a:picLocks noChangeAspect="1"/>
          </p:cNvPicPr>
          <p:nvPr/>
        </p:nvPicPr>
        <p:blipFill>
          <a:blip r:embed="rId6"/>
          <a:stretch>
            <a:fillRect/>
          </a:stretch>
        </p:blipFill>
        <p:spPr>
          <a:xfrm>
            <a:off x="4267200" y="1366114"/>
            <a:ext cx="5400675" cy="4333875"/>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2x2 Directional Coupler</a:t>
            </a:r>
            <a:br>
              <a:rPr lang="en-US" sz="2500" spc="-5" dirty="0">
                <a:latin typeface="+mj-lt"/>
                <a:cs typeface="Lucida Sans"/>
              </a:rPr>
            </a:br>
            <a:r>
              <a:rPr lang="en-US" b="0" dirty="0"/>
              <a:t>Width 0.6 - 1.6 µm (step 0.1 µm) – Wavelength 1.55 µm </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spTree>
    <p:extLst>
      <p:ext uri="{BB962C8B-B14F-4D97-AF65-F5344CB8AC3E}">
        <p14:creationId xmlns:p14="http://schemas.microsoft.com/office/powerpoint/2010/main" val="1558326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Parallel uncoupled waveguides</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200329"/>
              </a:xfrm>
              <a:prstGeom prst="rect">
                <a:avLst/>
              </a:prstGeom>
              <a:blipFill>
                <a:blip r:embed="rId6"/>
                <a:stretch>
                  <a:fillRect t="-3046" b="-7107"/>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4.1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pic>
        <p:nvPicPr>
          <p:cNvPr id="5" name="Imagen 4">
            <a:extLst>
              <a:ext uri="{FF2B5EF4-FFF2-40B4-BE49-F238E27FC236}">
                <a16:creationId xmlns:a16="http://schemas.microsoft.com/office/drawing/2014/main" id="{E2A99EFC-E5CA-590E-2B52-FD574C14E411}"/>
              </a:ext>
            </a:extLst>
          </p:cNvPr>
          <p:cNvPicPr>
            <a:picLocks noChangeAspect="1"/>
          </p:cNvPicPr>
          <p:nvPr/>
        </p:nvPicPr>
        <p:blipFill>
          <a:blip r:embed="rId5"/>
          <a:stretch>
            <a:fillRect/>
          </a:stretch>
        </p:blipFill>
        <p:spPr>
          <a:xfrm>
            <a:off x="572781" y="1752600"/>
            <a:ext cx="5381625" cy="2219325"/>
          </a:xfrm>
          <a:prstGeom prst="rect">
            <a:avLst/>
          </a:prstGeom>
        </p:spPr>
      </p:pic>
      <p:pic>
        <p:nvPicPr>
          <p:cNvPr id="15" name="Imagen 14">
            <a:extLst>
              <a:ext uri="{FF2B5EF4-FFF2-40B4-BE49-F238E27FC236}">
                <a16:creationId xmlns:a16="http://schemas.microsoft.com/office/drawing/2014/main" id="{6279227B-1523-EB59-B17B-6A691B0337B9}"/>
              </a:ext>
            </a:extLst>
          </p:cNvPr>
          <p:cNvPicPr>
            <a:picLocks noChangeAspect="1"/>
          </p:cNvPicPr>
          <p:nvPr/>
        </p:nvPicPr>
        <p:blipFill>
          <a:blip r:embed="rId6"/>
          <a:stretch>
            <a:fillRect/>
          </a:stretch>
        </p:blipFill>
        <p:spPr>
          <a:xfrm>
            <a:off x="7420927" y="1606536"/>
            <a:ext cx="3781425" cy="2847975"/>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pic>
        <p:nvPicPr>
          <p:cNvPr id="5" name="Imagen 4">
            <a:extLst>
              <a:ext uri="{FF2B5EF4-FFF2-40B4-BE49-F238E27FC236}">
                <a16:creationId xmlns:a16="http://schemas.microsoft.com/office/drawing/2014/main" id="{328DD6DC-CBD5-2402-2C87-4BEBF7D66081}"/>
              </a:ext>
            </a:extLst>
          </p:cNvPr>
          <p:cNvPicPr>
            <a:picLocks noChangeAspect="1"/>
          </p:cNvPicPr>
          <p:nvPr/>
        </p:nvPicPr>
        <p:blipFill>
          <a:blip r:embed="rId5"/>
          <a:stretch>
            <a:fillRect/>
          </a:stretch>
        </p:blipFill>
        <p:spPr>
          <a:xfrm>
            <a:off x="482522" y="1294585"/>
            <a:ext cx="5381625" cy="2238375"/>
          </a:xfrm>
          <a:prstGeom prst="rect">
            <a:avLst/>
          </a:prstGeom>
        </p:spPr>
      </p:pic>
      <p:pic>
        <p:nvPicPr>
          <p:cNvPr id="9" name="Imagen 8">
            <a:extLst>
              <a:ext uri="{FF2B5EF4-FFF2-40B4-BE49-F238E27FC236}">
                <a16:creationId xmlns:a16="http://schemas.microsoft.com/office/drawing/2014/main" id="{203E5357-19E8-108E-ABAD-A9410D7AB5C6}"/>
              </a:ext>
            </a:extLst>
          </p:cNvPr>
          <p:cNvPicPr>
            <a:picLocks noChangeAspect="1"/>
          </p:cNvPicPr>
          <p:nvPr/>
        </p:nvPicPr>
        <p:blipFill>
          <a:blip r:embed="rId6"/>
          <a:stretch>
            <a:fillRect/>
          </a:stretch>
        </p:blipFill>
        <p:spPr>
          <a:xfrm>
            <a:off x="6629400" y="1013597"/>
            <a:ext cx="3848100" cy="2800350"/>
          </a:xfrm>
          <a:prstGeom prst="rect">
            <a:avLst/>
          </a:prstGeom>
        </p:spPr>
      </p:pic>
    </p:spTree>
    <p:extLst>
      <p:ext uri="{BB962C8B-B14F-4D97-AF65-F5344CB8AC3E}">
        <p14:creationId xmlns:p14="http://schemas.microsoft.com/office/powerpoint/2010/main" val="2685215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a:t>
            </a:r>
            <a:r>
              <a:rPr lang="en-US" sz="2500"/>
              <a:t>outcome #5 </a:t>
            </a:r>
            <a:r>
              <a:rPr lang="en-US" sz="2500" dirty="0"/>
              <a:t>–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Repeat all the design </a:t>
            </a:r>
            <a:r>
              <a:rPr lang="en-US" sz="1200">
                <a:latin typeface="Arial" panose="020B0604020202020204" pitchFamily="34" charset="0"/>
                <a:cs typeface="Arial" panose="020B0604020202020204" pitchFamily="34" charset="0"/>
              </a:rPr>
              <a:t>process for a </a:t>
            </a:r>
            <a:r>
              <a:rPr lang="en-US" sz="1200" dirty="0">
                <a:latin typeface="Arial" panose="020B0604020202020204" pitchFamily="34" charset="0"/>
                <a:cs typeface="Arial" panose="020B0604020202020204" pitchFamily="34" charset="0"/>
              </a:rPr>
              <a:t>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16</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853</TotalTime>
  <Words>967</Words>
  <Application>Microsoft Office PowerPoint</Application>
  <PresentationFormat>Panorámica</PresentationFormat>
  <Paragraphs>199</Paragraphs>
  <Slides>16</Slides>
  <Notes>11</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16</vt:i4>
      </vt:variant>
    </vt:vector>
  </HeadingPairs>
  <TitlesOfParts>
    <vt:vector size="24"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length and coupling coefficient Wavelength 1.5 µm – width 1.2 µm – gap 0.6 µm</vt:lpstr>
      <vt:lpstr>Learning outcome #2 – 2x2 Directional Coupler Width 0.6 - 1.6 µm (step 0.1 µm) – Wavelength 1.55 µm </vt:lpstr>
      <vt:lpstr>Learning outcome #3 – Parallel uncoupled waveguides Wavelength 1.55 µm, width 1.0 µm, gap to be found for uncoupled wvgs</vt:lpstr>
      <vt:lpstr>Presentación de PowerPoint</vt:lpstr>
      <vt:lpstr>Learning outcome #4 – 4.1 2x2 Multimode Interference Coupler  Wavelength 1.55 µm, wMMI = 6.6 µm</vt:lpstr>
      <vt:lpstr>Learning outcome #4.2 – 2x2 Multimode Interference Coupler - Optimization Wavelength 1.55 µm, wMMI = 6.6 µm</vt:lpstr>
      <vt:lpstr>Learning outcome #4.3 – 2x2 Multimode Interference Coupler – Optimization (II) Wavelength 1.55 µm, wMMI = 6.6 µm</vt:lpstr>
      <vt:lpstr>Learning outcome #5 – 1x4 Multimode Interference Coupler  Wavelength 1.55 µm, wMMI = ? µm</vt:lpstr>
      <vt:lpstr>Extra #1 – Directional wavelength dependence Wavelengths from 1.5 to 1.7 µm, gap = 0.6 µm, width 1.0 µm  </vt:lpstr>
      <vt:lpstr>Extra #2 – Directional coupler gap dependence Wavelength 1.55 µm, width 1.0 µm, gap 0.2-2.4 µm (step 0.2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Maria Romero Garcia</cp:lastModifiedBy>
  <cp:revision>11</cp:revision>
  <dcterms:created xsi:type="dcterms:W3CDTF">2025-01-27T02:46:57Z</dcterms:created>
  <dcterms:modified xsi:type="dcterms:W3CDTF">2026-03-10T12:39:39Z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